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92" r:id="rId5"/>
    <p:sldId id="275" r:id="rId6"/>
    <p:sldId id="298" r:id="rId7"/>
    <p:sldId id="276" r:id="rId8"/>
    <p:sldId id="297" r:id="rId9"/>
    <p:sldId id="277" r:id="rId10"/>
    <p:sldId id="278" r:id="rId11"/>
    <p:sldId id="279" r:id="rId12"/>
    <p:sldId id="299" r:id="rId13"/>
    <p:sldId id="300" r:id="rId14"/>
    <p:sldId id="29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34"/>
  </p:normalViewPr>
  <p:slideViewPr>
    <p:cSldViewPr snapToGrid="0" showGuides="1">
      <p:cViewPr varScale="1">
        <p:scale>
          <a:sx n="98" d="100"/>
          <a:sy n="98" d="100"/>
        </p:scale>
        <p:origin x="110" y="91"/>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3</c:v>
                </c:pt>
              </c:strCache>
            </c:strRef>
          </c:tx>
          <c:spPr>
            <a:solidFill>
              <a:schemeClr val="accent1">
                <a:lumMod val="40000"/>
                <a:lumOff val="60000"/>
              </a:schemeClr>
            </a:solidFill>
            <a:ln>
              <a:noFill/>
            </a:ln>
            <a:effectLst/>
          </c:spPr>
          <c:invertIfNegative val="0"/>
          <c:cat>
            <c:strRef>
              <c:f>Sheet1!$A$2:$A$5</c:f>
              <c:strCache>
                <c:ptCount val="4"/>
                <c:pt idx="0">
                  <c:v>Q4</c:v>
                </c:pt>
                <c:pt idx="1">
                  <c:v>Q3</c:v>
                </c:pt>
                <c:pt idx="2">
                  <c:v>Q2</c:v>
                </c:pt>
                <c:pt idx="3">
                  <c:v>Q1</c:v>
                </c:pt>
              </c:strCache>
            </c:strRef>
          </c:cat>
          <c:val>
            <c:numRef>
              <c:f>Sheet1!$B$2:$B$5</c:f>
              <c:numCache>
                <c:formatCode>General</c:formatCode>
                <c:ptCount val="4"/>
                <c:pt idx="0">
                  <c:v>4.5</c:v>
                </c:pt>
                <c:pt idx="1">
                  <c:v>3.5</c:v>
                </c:pt>
                <c:pt idx="2">
                  <c:v>2.5</c:v>
                </c:pt>
                <c:pt idx="3">
                  <c:v>4.3</c:v>
                </c:pt>
              </c:numCache>
            </c:numRef>
          </c:val>
          <c:extLst>
            <c:ext xmlns:c16="http://schemas.microsoft.com/office/drawing/2014/chart" uri="{C3380CC4-5D6E-409C-BE32-E72D297353CC}">
              <c16:uniqueId val="{00000000-8074-43DF-85DD-F0A10967E889}"/>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Q4</c:v>
                </c:pt>
                <c:pt idx="1">
                  <c:v>Q3</c:v>
                </c:pt>
                <c:pt idx="2">
                  <c:v>Q2</c:v>
                </c:pt>
                <c:pt idx="3">
                  <c:v>Q1</c:v>
                </c:pt>
              </c:strCache>
            </c:strRef>
          </c:cat>
          <c:val>
            <c:numRef>
              <c:f>Sheet1!$C$2:$C$5</c:f>
              <c:numCache>
                <c:formatCode>General</c:formatCode>
                <c:ptCount val="4"/>
                <c:pt idx="0">
                  <c:v>2.8</c:v>
                </c:pt>
                <c:pt idx="1">
                  <c:v>1.8</c:v>
                </c:pt>
                <c:pt idx="2">
                  <c:v>4.4000000000000004</c:v>
                </c:pt>
                <c:pt idx="3">
                  <c:v>2.4</c:v>
                </c:pt>
              </c:numCache>
            </c:numRef>
          </c:val>
          <c:extLst>
            <c:ext xmlns:c16="http://schemas.microsoft.com/office/drawing/2014/chart" uri="{C3380CC4-5D6E-409C-BE32-E72D297353CC}">
              <c16:uniqueId val="{00000001-8074-43DF-85DD-F0A10967E889}"/>
            </c:ext>
          </c:extLst>
        </c:ser>
        <c:ser>
          <c:idx val="2"/>
          <c:order val="2"/>
          <c:tx>
            <c:strRef>
              <c:f>Sheet1!$D$1</c:f>
              <c:strCache>
                <c:ptCount val="1"/>
                <c:pt idx="0">
                  <c:v>Series 1</c:v>
                </c:pt>
              </c:strCache>
            </c:strRef>
          </c:tx>
          <c:spPr>
            <a:solidFill>
              <a:schemeClr val="accent4"/>
            </a:solidFill>
            <a:ln>
              <a:noFill/>
            </a:ln>
            <a:effectLst/>
          </c:spPr>
          <c:invertIfNegative val="0"/>
          <c:cat>
            <c:strRef>
              <c:f>Sheet1!$A$2:$A$5</c:f>
              <c:strCache>
                <c:ptCount val="4"/>
                <c:pt idx="0">
                  <c:v>Q4</c:v>
                </c:pt>
                <c:pt idx="1">
                  <c:v>Q3</c:v>
                </c:pt>
                <c:pt idx="2">
                  <c:v>Q2</c:v>
                </c:pt>
                <c:pt idx="3">
                  <c:v>Q1</c:v>
                </c:pt>
              </c:strCache>
            </c:strRef>
          </c:cat>
          <c:val>
            <c:numRef>
              <c:f>Sheet1!$D$2:$D$5</c:f>
              <c:numCache>
                <c:formatCode>General</c:formatCode>
                <c:ptCount val="4"/>
                <c:pt idx="0">
                  <c:v>5</c:v>
                </c:pt>
                <c:pt idx="1">
                  <c:v>3</c:v>
                </c:pt>
                <c:pt idx="2">
                  <c:v>2</c:v>
                </c:pt>
                <c:pt idx="3">
                  <c:v>2</c:v>
                </c:pt>
              </c:numCache>
            </c:numRef>
          </c:val>
          <c:extLst>
            <c:ext xmlns:c16="http://schemas.microsoft.com/office/drawing/2014/chart" uri="{C3380CC4-5D6E-409C-BE32-E72D297353CC}">
              <c16:uniqueId val="{00000002-8074-43DF-85DD-F0A10967E889}"/>
            </c:ext>
          </c:extLst>
        </c:ser>
        <c:dLbls>
          <c:showLegendKey val="0"/>
          <c:showVal val="0"/>
          <c:showCatName val="0"/>
          <c:showSerName val="0"/>
          <c:showPercent val="0"/>
          <c:showBubbleSize val="0"/>
        </c:dLbls>
        <c:gapWidth val="182"/>
        <c:axId val="1238477584"/>
        <c:axId val="1238481520"/>
      </c:barChart>
      <c:catAx>
        <c:axId val="12384775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8481520"/>
        <c:crosses val="autoZero"/>
        <c:auto val="1"/>
        <c:lblAlgn val="ctr"/>
        <c:lblOffset val="100"/>
        <c:noMultiLvlLbl val="0"/>
      </c:catAx>
      <c:valAx>
        <c:axId val="12384815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847758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C86BB7-3602-4440-93EB-1FD238D0AAF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224CBED-86BA-43F9-8694-8F71C2B83506}">
      <dgm:prSet custT="1"/>
      <dgm:spPr/>
      <dgm:t>
        <a:bodyPr/>
        <a:lstStyle/>
        <a:p>
          <a:r>
            <a:rPr lang="en-US" sz="900" b="0"/>
            <a:t>Batting Approach: Select technically sound batsmen who can handle swing bowling.</a:t>
          </a:r>
          <a:endParaRPr lang="en-IN" sz="900"/>
        </a:p>
      </dgm:t>
    </dgm:pt>
    <dgm:pt modelId="{1481179F-D9DC-4D9C-BB91-AD10F8BC79B0}" type="parTrans" cxnId="{1FB1F8EC-0F74-4B6F-9C01-4193CFDEE827}">
      <dgm:prSet/>
      <dgm:spPr/>
      <dgm:t>
        <a:bodyPr/>
        <a:lstStyle/>
        <a:p>
          <a:endParaRPr lang="en-IN"/>
        </a:p>
      </dgm:t>
    </dgm:pt>
    <dgm:pt modelId="{2AD69402-0E8D-415D-A670-D45901BB3DAA}" type="sibTrans" cxnId="{1FB1F8EC-0F74-4B6F-9C01-4193CFDEE827}">
      <dgm:prSet/>
      <dgm:spPr/>
      <dgm:t>
        <a:bodyPr/>
        <a:lstStyle/>
        <a:p>
          <a:endParaRPr lang="en-IN"/>
        </a:p>
      </dgm:t>
    </dgm:pt>
    <dgm:pt modelId="{CBFF9025-43C1-4AFD-B3F7-CC4264A10A37}">
      <dgm:prSet custT="1"/>
      <dgm:spPr/>
      <dgm:t>
        <a:bodyPr/>
        <a:lstStyle/>
        <a:p>
          <a:r>
            <a:rPr lang="en-US" sz="900" b="0"/>
            <a:t>Fielding Adjustments: Emphasize slip catching practice due to the likelihood of edges in such conditions.</a:t>
          </a:r>
          <a:endParaRPr lang="en-IN" sz="900"/>
        </a:p>
      </dgm:t>
    </dgm:pt>
    <dgm:pt modelId="{042B84FA-7123-4267-BB17-A3258B5D2AF2}" type="parTrans" cxnId="{2C66B03A-8A81-44E6-866A-3592468050AF}">
      <dgm:prSet/>
      <dgm:spPr/>
      <dgm:t>
        <a:bodyPr/>
        <a:lstStyle/>
        <a:p>
          <a:endParaRPr lang="en-IN"/>
        </a:p>
      </dgm:t>
    </dgm:pt>
    <dgm:pt modelId="{64084EF3-6F7B-4CA5-AE88-34A6F4C7FFAD}" type="sibTrans" cxnId="{2C66B03A-8A81-44E6-866A-3592468050AF}">
      <dgm:prSet/>
      <dgm:spPr/>
      <dgm:t>
        <a:bodyPr/>
        <a:lstStyle/>
        <a:p>
          <a:endParaRPr lang="en-IN"/>
        </a:p>
      </dgm:t>
    </dgm:pt>
    <dgm:pt modelId="{21897050-E730-48CB-ADC5-AF3A958BB468}">
      <dgm:prSet custT="1"/>
      <dgm:spPr/>
      <dgm:t>
        <a:bodyPr/>
        <a:lstStyle/>
        <a:p>
          <a:r>
            <a:rPr lang="en-US" sz="900" b="0"/>
            <a:t>Spin Strategy: Utilize spinners in the middle overs to control the run rate.</a:t>
          </a:r>
          <a:endParaRPr lang="en-IN" sz="900"/>
        </a:p>
      </dgm:t>
    </dgm:pt>
    <dgm:pt modelId="{E2C36396-3B45-4085-9EBB-EA69F4C9A6FA}" type="parTrans" cxnId="{9D888228-F328-469F-B5EE-E89DEC85B948}">
      <dgm:prSet/>
      <dgm:spPr/>
      <dgm:t>
        <a:bodyPr/>
        <a:lstStyle/>
        <a:p>
          <a:endParaRPr lang="en-IN"/>
        </a:p>
      </dgm:t>
    </dgm:pt>
    <dgm:pt modelId="{DA2A6F30-CC0B-43EC-AD60-D2A09E8224DF}" type="sibTrans" cxnId="{9D888228-F328-469F-B5EE-E89DEC85B948}">
      <dgm:prSet/>
      <dgm:spPr/>
      <dgm:t>
        <a:bodyPr/>
        <a:lstStyle/>
        <a:p>
          <a:endParaRPr lang="en-IN"/>
        </a:p>
      </dgm:t>
    </dgm:pt>
    <dgm:pt modelId="{A5C692F5-376B-4D71-8B61-DC4E1524FC13}">
      <dgm:prSet custT="1"/>
      <dgm:spPr/>
      <dgm:t>
        <a:bodyPr/>
        <a:lstStyle/>
        <a:p>
          <a:r>
            <a:rPr lang="en-US" sz="900" b="0"/>
            <a:t>Power Hitters: Include batsmen who can clear the boundary in the later overs.</a:t>
          </a:r>
          <a:endParaRPr lang="en-IN" sz="900"/>
        </a:p>
      </dgm:t>
    </dgm:pt>
    <dgm:pt modelId="{5055DF39-FECC-4915-88BC-76A35DEB0214}" type="parTrans" cxnId="{E8BC74F7-511A-48B4-AA15-8DDEBB3DCF8E}">
      <dgm:prSet/>
      <dgm:spPr/>
      <dgm:t>
        <a:bodyPr/>
        <a:lstStyle/>
        <a:p>
          <a:endParaRPr lang="en-IN"/>
        </a:p>
      </dgm:t>
    </dgm:pt>
    <dgm:pt modelId="{A99790B2-CA7D-4B90-A622-07EF059F1502}" type="sibTrans" cxnId="{E8BC74F7-511A-48B4-AA15-8DDEBB3DCF8E}">
      <dgm:prSet/>
      <dgm:spPr/>
      <dgm:t>
        <a:bodyPr/>
        <a:lstStyle/>
        <a:p>
          <a:endParaRPr lang="en-IN"/>
        </a:p>
      </dgm:t>
    </dgm:pt>
    <dgm:pt modelId="{1541D6F9-DCB5-4042-8F4B-1F8233AC90C0}">
      <dgm:prSet custT="1"/>
      <dgm:spPr/>
      <dgm:t>
        <a:bodyPr/>
        <a:lstStyle/>
        <a:p>
          <a:r>
            <a:rPr lang="en-US" sz="900" b="0"/>
            <a:t>Pace Attack: Bring in fast bowlers who can bowl cutters and slower balls effectively.</a:t>
          </a:r>
          <a:endParaRPr lang="en-IN" sz="900"/>
        </a:p>
      </dgm:t>
    </dgm:pt>
    <dgm:pt modelId="{32AC1F62-FB81-4D20-AB6A-537BC9978FF8}" type="parTrans" cxnId="{D283C2D3-12CF-4B4B-9689-955AFAE36412}">
      <dgm:prSet/>
      <dgm:spPr/>
      <dgm:t>
        <a:bodyPr/>
        <a:lstStyle/>
        <a:p>
          <a:endParaRPr lang="en-IN"/>
        </a:p>
      </dgm:t>
    </dgm:pt>
    <dgm:pt modelId="{CA48EFAD-8988-4D0E-BBDF-7B2B9B5D0907}" type="sibTrans" cxnId="{D283C2D3-12CF-4B4B-9689-955AFAE36412}">
      <dgm:prSet/>
      <dgm:spPr/>
      <dgm:t>
        <a:bodyPr/>
        <a:lstStyle/>
        <a:p>
          <a:endParaRPr lang="en-IN"/>
        </a:p>
      </dgm:t>
    </dgm:pt>
    <dgm:pt modelId="{8689207E-7736-4720-BF2B-0BCC311F2149}">
      <dgm:prSet custT="1"/>
      <dgm:spPr/>
      <dgm:t>
        <a:bodyPr/>
        <a:lstStyle/>
        <a:p>
          <a:r>
            <a:rPr lang="en-US" sz="900" b="0"/>
            <a:t>Top Order Stability: Ensure top-order batsmen build a solid foundation to allow for aggressive play later.</a:t>
          </a:r>
          <a:endParaRPr lang="en-IN" sz="900"/>
        </a:p>
      </dgm:t>
    </dgm:pt>
    <dgm:pt modelId="{907935A4-9156-4A28-9858-FA898ACC899C}" type="parTrans" cxnId="{FB10993A-DF54-4741-A351-6C13593F6EDC}">
      <dgm:prSet/>
      <dgm:spPr/>
      <dgm:t>
        <a:bodyPr/>
        <a:lstStyle/>
        <a:p>
          <a:endParaRPr lang="en-IN"/>
        </a:p>
      </dgm:t>
    </dgm:pt>
    <dgm:pt modelId="{3F0FE99E-94E8-4E5A-893F-BBE43A1D8F3F}" type="sibTrans" cxnId="{FB10993A-DF54-4741-A351-6C13593F6EDC}">
      <dgm:prSet/>
      <dgm:spPr/>
      <dgm:t>
        <a:bodyPr/>
        <a:lstStyle/>
        <a:p>
          <a:endParaRPr lang="en-IN"/>
        </a:p>
      </dgm:t>
    </dgm:pt>
    <dgm:pt modelId="{0E197479-F3DF-4665-979E-E8BA244CB364}">
      <dgm:prSet custT="1"/>
      <dgm:spPr/>
      <dgm:t>
        <a:bodyPr/>
        <a:lstStyle/>
        <a:p>
          <a:r>
            <a:rPr lang="en-US" sz="900" b="0" dirty="0"/>
            <a:t>All-Rounder Utilization: Play an extra all-rounder to provide depth in both batting and bowling.</a:t>
          </a:r>
          <a:endParaRPr lang="en-IN" sz="900" dirty="0"/>
        </a:p>
      </dgm:t>
    </dgm:pt>
    <dgm:pt modelId="{0CD48B65-67AF-4932-AABF-67B42C5463F1}" type="parTrans" cxnId="{F36F7121-B44F-4FF4-A7F1-1DDF7377A386}">
      <dgm:prSet/>
      <dgm:spPr/>
      <dgm:t>
        <a:bodyPr/>
        <a:lstStyle/>
        <a:p>
          <a:endParaRPr lang="en-IN"/>
        </a:p>
      </dgm:t>
    </dgm:pt>
    <dgm:pt modelId="{420013A3-E861-4527-9B29-EE68E70B375C}" type="sibTrans" cxnId="{F36F7121-B44F-4FF4-A7F1-1DDF7377A386}">
      <dgm:prSet/>
      <dgm:spPr/>
      <dgm:t>
        <a:bodyPr/>
        <a:lstStyle/>
        <a:p>
          <a:endParaRPr lang="en-IN"/>
        </a:p>
      </dgm:t>
    </dgm:pt>
    <dgm:pt modelId="{E8E7A8F2-0E92-4C78-9CB3-5939D2F662A2}">
      <dgm:prSet custT="1"/>
      <dgm:spPr/>
      <dgm:t>
        <a:bodyPr/>
        <a:lstStyle/>
        <a:p>
          <a:r>
            <a:rPr lang="en-US" sz="900" b="0"/>
            <a:t>Opening Partnership: Focus on a strong start from the openers to set the pace of the innings.</a:t>
          </a:r>
          <a:endParaRPr lang="en-IN" sz="900"/>
        </a:p>
      </dgm:t>
    </dgm:pt>
    <dgm:pt modelId="{D2B0416D-A6F5-4D54-846A-840E5CA27B40}" type="parTrans" cxnId="{C5DD5E3F-629D-47A5-8001-B61CB3900063}">
      <dgm:prSet/>
      <dgm:spPr/>
      <dgm:t>
        <a:bodyPr/>
        <a:lstStyle/>
        <a:p>
          <a:endParaRPr lang="en-IN"/>
        </a:p>
      </dgm:t>
    </dgm:pt>
    <dgm:pt modelId="{00B7FA88-F189-4DF4-A0B5-F30256F229A2}" type="sibTrans" cxnId="{C5DD5E3F-629D-47A5-8001-B61CB3900063}">
      <dgm:prSet/>
      <dgm:spPr/>
      <dgm:t>
        <a:bodyPr/>
        <a:lstStyle/>
        <a:p>
          <a:endParaRPr lang="en-IN"/>
        </a:p>
      </dgm:t>
    </dgm:pt>
    <dgm:pt modelId="{F7788104-7C34-401C-BDDE-BE7AA84CFA4C}">
      <dgm:prSet custT="1"/>
      <dgm:spPr/>
      <dgm:t>
        <a:bodyPr/>
        <a:lstStyle/>
        <a:p>
          <a:r>
            <a:rPr lang="en-US" sz="900" b="0"/>
            <a:t>Fielding Focus: Prioritize fielding drills to ensure sharpness in the field.</a:t>
          </a:r>
          <a:endParaRPr lang="en-IN" sz="900"/>
        </a:p>
      </dgm:t>
    </dgm:pt>
    <dgm:pt modelId="{6DA4C15A-2DCF-4D31-A66D-9B3F8E806105}" type="parTrans" cxnId="{EF54E48C-4FF4-451C-B2B4-50C65AAFDFE4}">
      <dgm:prSet/>
      <dgm:spPr/>
      <dgm:t>
        <a:bodyPr/>
        <a:lstStyle/>
        <a:p>
          <a:endParaRPr lang="en-IN"/>
        </a:p>
      </dgm:t>
    </dgm:pt>
    <dgm:pt modelId="{DEBB8B11-80AC-49E5-B729-DF6809826FF2}" type="sibTrans" cxnId="{EF54E48C-4FF4-451C-B2B4-50C65AAFDFE4}">
      <dgm:prSet/>
      <dgm:spPr/>
      <dgm:t>
        <a:bodyPr/>
        <a:lstStyle/>
        <a:p>
          <a:endParaRPr lang="en-IN"/>
        </a:p>
      </dgm:t>
    </dgm:pt>
    <dgm:pt modelId="{02A5A05A-AB95-4AB9-8D80-796FB034AC40}">
      <dgm:prSet custT="1"/>
      <dgm:spPr/>
      <dgm:t>
        <a:bodyPr/>
        <a:lstStyle/>
        <a:p>
          <a:r>
            <a:rPr lang="en-US" sz="900" b="0"/>
            <a:t>Finishers’ Role: Assign clear roles to finishers to maintain or accelerate the run rate towards the end.</a:t>
          </a:r>
          <a:endParaRPr lang="en-IN" sz="900"/>
        </a:p>
      </dgm:t>
    </dgm:pt>
    <dgm:pt modelId="{1F9D9DE9-D849-4E81-8C40-1D2F7E7D1438}" type="parTrans" cxnId="{1A633EE9-5690-4DDE-943D-C65D973844B5}">
      <dgm:prSet/>
      <dgm:spPr/>
      <dgm:t>
        <a:bodyPr/>
        <a:lstStyle/>
        <a:p>
          <a:endParaRPr lang="en-IN"/>
        </a:p>
      </dgm:t>
    </dgm:pt>
    <dgm:pt modelId="{55B67772-1E41-423A-A78E-875D01E1954F}" type="sibTrans" cxnId="{1A633EE9-5690-4DDE-943D-C65D973844B5}">
      <dgm:prSet/>
      <dgm:spPr/>
      <dgm:t>
        <a:bodyPr/>
        <a:lstStyle/>
        <a:p>
          <a:endParaRPr lang="en-IN"/>
        </a:p>
      </dgm:t>
    </dgm:pt>
    <dgm:pt modelId="{2FCBAE49-EFF7-4437-AF27-FC4BED3AB1F5}">
      <dgm:prSet custT="1"/>
      <dgm:spPr/>
      <dgm:t>
        <a:bodyPr/>
        <a:lstStyle/>
        <a:p>
          <a:r>
            <a:rPr lang="en-US" sz="900" b="0"/>
            <a:t>Rest &amp; Recuperation : Ensure that players get enough rest and time to recuperate between matches to enhance their performance and consistency.</a:t>
          </a:r>
          <a:endParaRPr lang="en-IN" sz="900"/>
        </a:p>
      </dgm:t>
    </dgm:pt>
    <dgm:pt modelId="{BD14C021-77CB-4AEE-911F-8333D46DE289}" type="parTrans" cxnId="{528E0B8C-6DC0-4182-99D2-35DE607FE18E}">
      <dgm:prSet/>
      <dgm:spPr/>
      <dgm:t>
        <a:bodyPr/>
        <a:lstStyle/>
        <a:p>
          <a:endParaRPr lang="en-IN"/>
        </a:p>
      </dgm:t>
    </dgm:pt>
    <dgm:pt modelId="{86545F31-2EB9-478E-833C-ACD523348FEB}" type="sibTrans" cxnId="{528E0B8C-6DC0-4182-99D2-35DE607FE18E}">
      <dgm:prSet/>
      <dgm:spPr/>
      <dgm:t>
        <a:bodyPr/>
        <a:lstStyle/>
        <a:p>
          <a:endParaRPr lang="en-IN"/>
        </a:p>
      </dgm:t>
    </dgm:pt>
    <dgm:pt modelId="{46F63F38-4D6C-4684-B67B-076B9376FA45}">
      <dgm:prSet custT="1"/>
      <dgm:spPr/>
      <dgm:t>
        <a:bodyPr/>
        <a:lstStyle/>
        <a:p>
          <a:r>
            <a:rPr lang="en-US" sz="900" b="0" dirty="0"/>
            <a:t>For each match, the strategies should be tailored to the opponent’s weaknesses and the conditions on the day. Continuous analysis of player performance and opposition tactics will be crucial for adapting strategies throughout the series. Additionally, maintaining player fitness and morale will be essential for the team’s success.</a:t>
          </a:r>
          <a:endParaRPr lang="en-IN" sz="900" dirty="0"/>
        </a:p>
      </dgm:t>
    </dgm:pt>
    <dgm:pt modelId="{A08854AA-0B42-4A0D-992D-DBA89E5FA176}" type="parTrans" cxnId="{5FACC50F-AFC7-402F-B4BA-A267570F7BA5}">
      <dgm:prSet/>
      <dgm:spPr/>
      <dgm:t>
        <a:bodyPr/>
        <a:lstStyle/>
        <a:p>
          <a:endParaRPr lang="en-IN"/>
        </a:p>
      </dgm:t>
    </dgm:pt>
    <dgm:pt modelId="{1C49741C-F8F2-4F7D-A2A5-E1E4CFB1C69C}" type="sibTrans" cxnId="{5FACC50F-AFC7-402F-B4BA-A267570F7BA5}">
      <dgm:prSet/>
      <dgm:spPr/>
      <dgm:t>
        <a:bodyPr/>
        <a:lstStyle/>
        <a:p>
          <a:endParaRPr lang="en-IN"/>
        </a:p>
      </dgm:t>
    </dgm:pt>
    <dgm:pt modelId="{EEF0E462-8C7E-43AC-BEF4-C9C5EC1CD3B1}" type="pres">
      <dgm:prSet presAssocID="{90C86BB7-3602-4440-93EB-1FD238D0AAFE}" presName="linear" presStyleCnt="0">
        <dgm:presLayoutVars>
          <dgm:animLvl val="lvl"/>
          <dgm:resizeHandles val="exact"/>
        </dgm:presLayoutVars>
      </dgm:prSet>
      <dgm:spPr/>
    </dgm:pt>
    <dgm:pt modelId="{B9CBE92E-AB21-453A-BA2F-C1D03A7C5245}" type="pres">
      <dgm:prSet presAssocID="{E224CBED-86BA-43F9-8694-8F71C2B83506}" presName="parentText" presStyleLbl="node1" presStyleIdx="0" presStyleCnt="12">
        <dgm:presLayoutVars>
          <dgm:chMax val="0"/>
          <dgm:bulletEnabled val="1"/>
        </dgm:presLayoutVars>
      </dgm:prSet>
      <dgm:spPr/>
    </dgm:pt>
    <dgm:pt modelId="{F89DC482-4DD5-4048-869D-7D70B16E517B}" type="pres">
      <dgm:prSet presAssocID="{2AD69402-0E8D-415D-A670-D45901BB3DAA}" presName="spacer" presStyleCnt="0"/>
      <dgm:spPr/>
    </dgm:pt>
    <dgm:pt modelId="{0F19F305-32A7-41A3-B233-8414635EAF78}" type="pres">
      <dgm:prSet presAssocID="{CBFF9025-43C1-4AFD-B3F7-CC4264A10A37}" presName="parentText" presStyleLbl="node1" presStyleIdx="1" presStyleCnt="12">
        <dgm:presLayoutVars>
          <dgm:chMax val="0"/>
          <dgm:bulletEnabled val="1"/>
        </dgm:presLayoutVars>
      </dgm:prSet>
      <dgm:spPr/>
    </dgm:pt>
    <dgm:pt modelId="{00F2C19F-4889-4ECF-8DCC-1413E3AF8A85}" type="pres">
      <dgm:prSet presAssocID="{64084EF3-6F7B-4CA5-AE88-34A6F4C7FFAD}" presName="spacer" presStyleCnt="0"/>
      <dgm:spPr/>
    </dgm:pt>
    <dgm:pt modelId="{914C583E-43B8-4B4C-BF44-3AEB02569EC2}" type="pres">
      <dgm:prSet presAssocID="{21897050-E730-48CB-ADC5-AF3A958BB468}" presName="parentText" presStyleLbl="node1" presStyleIdx="2" presStyleCnt="12">
        <dgm:presLayoutVars>
          <dgm:chMax val="0"/>
          <dgm:bulletEnabled val="1"/>
        </dgm:presLayoutVars>
      </dgm:prSet>
      <dgm:spPr/>
    </dgm:pt>
    <dgm:pt modelId="{8E5E5BC1-5EE3-4B08-80CD-13D0CB8A4545}" type="pres">
      <dgm:prSet presAssocID="{DA2A6F30-CC0B-43EC-AD60-D2A09E8224DF}" presName="spacer" presStyleCnt="0"/>
      <dgm:spPr/>
    </dgm:pt>
    <dgm:pt modelId="{8B7680E2-42FF-4DCA-87E0-2532FD822370}" type="pres">
      <dgm:prSet presAssocID="{A5C692F5-376B-4D71-8B61-DC4E1524FC13}" presName="parentText" presStyleLbl="node1" presStyleIdx="3" presStyleCnt="12">
        <dgm:presLayoutVars>
          <dgm:chMax val="0"/>
          <dgm:bulletEnabled val="1"/>
        </dgm:presLayoutVars>
      </dgm:prSet>
      <dgm:spPr/>
    </dgm:pt>
    <dgm:pt modelId="{855A7FC4-BDC6-4055-B7BD-9AA8297F5F72}" type="pres">
      <dgm:prSet presAssocID="{A99790B2-CA7D-4B90-A622-07EF059F1502}" presName="spacer" presStyleCnt="0"/>
      <dgm:spPr/>
    </dgm:pt>
    <dgm:pt modelId="{2CCD48D5-6958-4113-94C1-235C84D13625}" type="pres">
      <dgm:prSet presAssocID="{1541D6F9-DCB5-4042-8F4B-1F8233AC90C0}" presName="parentText" presStyleLbl="node1" presStyleIdx="4" presStyleCnt="12">
        <dgm:presLayoutVars>
          <dgm:chMax val="0"/>
          <dgm:bulletEnabled val="1"/>
        </dgm:presLayoutVars>
      </dgm:prSet>
      <dgm:spPr/>
    </dgm:pt>
    <dgm:pt modelId="{515E20EB-F1D5-4DCE-B129-DABC2021BA6D}" type="pres">
      <dgm:prSet presAssocID="{CA48EFAD-8988-4D0E-BBDF-7B2B9B5D0907}" presName="spacer" presStyleCnt="0"/>
      <dgm:spPr/>
    </dgm:pt>
    <dgm:pt modelId="{72FFE925-D2BF-4350-92F1-6B37BE80B4BD}" type="pres">
      <dgm:prSet presAssocID="{8689207E-7736-4720-BF2B-0BCC311F2149}" presName="parentText" presStyleLbl="node1" presStyleIdx="5" presStyleCnt="12">
        <dgm:presLayoutVars>
          <dgm:chMax val="0"/>
          <dgm:bulletEnabled val="1"/>
        </dgm:presLayoutVars>
      </dgm:prSet>
      <dgm:spPr/>
    </dgm:pt>
    <dgm:pt modelId="{16ECA6F2-4575-4836-A7C7-0B80012C8AD6}" type="pres">
      <dgm:prSet presAssocID="{3F0FE99E-94E8-4E5A-893F-BBE43A1D8F3F}" presName="spacer" presStyleCnt="0"/>
      <dgm:spPr/>
    </dgm:pt>
    <dgm:pt modelId="{C87F07B1-843E-4CC1-BA78-88BE9D4D56FF}" type="pres">
      <dgm:prSet presAssocID="{0E197479-F3DF-4665-979E-E8BA244CB364}" presName="parentText" presStyleLbl="node1" presStyleIdx="6" presStyleCnt="12">
        <dgm:presLayoutVars>
          <dgm:chMax val="0"/>
          <dgm:bulletEnabled val="1"/>
        </dgm:presLayoutVars>
      </dgm:prSet>
      <dgm:spPr/>
    </dgm:pt>
    <dgm:pt modelId="{5D82C4A0-C62F-483D-B732-901C5994D170}" type="pres">
      <dgm:prSet presAssocID="{420013A3-E861-4527-9B29-EE68E70B375C}" presName="spacer" presStyleCnt="0"/>
      <dgm:spPr/>
    </dgm:pt>
    <dgm:pt modelId="{A05A5447-16D8-4B4F-962A-CEFF27EF0059}" type="pres">
      <dgm:prSet presAssocID="{E8E7A8F2-0E92-4C78-9CB3-5939D2F662A2}" presName="parentText" presStyleLbl="node1" presStyleIdx="7" presStyleCnt="12">
        <dgm:presLayoutVars>
          <dgm:chMax val="0"/>
          <dgm:bulletEnabled val="1"/>
        </dgm:presLayoutVars>
      </dgm:prSet>
      <dgm:spPr/>
    </dgm:pt>
    <dgm:pt modelId="{B139F572-19D4-484A-A3DD-122B46633270}" type="pres">
      <dgm:prSet presAssocID="{00B7FA88-F189-4DF4-A0B5-F30256F229A2}" presName="spacer" presStyleCnt="0"/>
      <dgm:spPr/>
    </dgm:pt>
    <dgm:pt modelId="{FD38CCAB-29E9-4D3F-A5AF-F8B196514108}" type="pres">
      <dgm:prSet presAssocID="{F7788104-7C34-401C-BDDE-BE7AA84CFA4C}" presName="parentText" presStyleLbl="node1" presStyleIdx="8" presStyleCnt="12">
        <dgm:presLayoutVars>
          <dgm:chMax val="0"/>
          <dgm:bulletEnabled val="1"/>
        </dgm:presLayoutVars>
      </dgm:prSet>
      <dgm:spPr/>
    </dgm:pt>
    <dgm:pt modelId="{2DEE1D41-C778-45E3-8E56-3B1643AB3F32}" type="pres">
      <dgm:prSet presAssocID="{DEBB8B11-80AC-49E5-B729-DF6809826FF2}" presName="spacer" presStyleCnt="0"/>
      <dgm:spPr/>
    </dgm:pt>
    <dgm:pt modelId="{6A81730B-3A3C-4DA1-84A3-2309BD3C3B02}" type="pres">
      <dgm:prSet presAssocID="{02A5A05A-AB95-4AB9-8D80-796FB034AC40}" presName="parentText" presStyleLbl="node1" presStyleIdx="9" presStyleCnt="12">
        <dgm:presLayoutVars>
          <dgm:chMax val="0"/>
          <dgm:bulletEnabled val="1"/>
        </dgm:presLayoutVars>
      </dgm:prSet>
      <dgm:spPr/>
    </dgm:pt>
    <dgm:pt modelId="{EBD5BE82-3948-4CF8-B5FA-9DFE42636C54}" type="pres">
      <dgm:prSet presAssocID="{55B67772-1E41-423A-A78E-875D01E1954F}" presName="spacer" presStyleCnt="0"/>
      <dgm:spPr/>
    </dgm:pt>
    <dgm:pt modelId="{7F6154F2-95F4-4663-82DD-DF7A13A42552}" type="pres">
      <dgm:prSet presAssocID="{2FCBAE49-EFF7-4437-AF27-FC4BED3AB1F5}" presName="parentText" presStyleLbl="node1" presStyleIdx="10" presStyleCnt="12">
        <dgm:presLayoutVars>
          <dgm:chMax val="0"/>
          <dgm:bulletEnabled val="1"/>
        </dgm:presLayoutVars>
      </dgm:prSet>
      <dgm:spPr/>
    </dgm:pt>
    <dgm:pt modelId="{00045FBF-1817-45C3-9E8C-E4841C719694}" type="pres">
      <dgm:prSet presAssocID="{86545F31-2EB9-478E-833C-ACD523348FEB}" presName="spacer" presStyleCnt="0"/>
      <dgm:spPr/>
    </dgm:pt>
    <dgm:pt modelId="{0DB603E1-E2F4-4E87-BA6C-98AB467618ED}" type="pres">
      <dgm:prSet presAssocID="{46F63F38-4D6C-4684-B67B-076B9376FA45}" presName="parentText" presStyleLbl="node1" presStyleIdx="11" presStyleCnt="12">
        <dgm:presLayoutVars>
          <dgm:chMax val="0"/>
          <dgm:bulletEnabled val="1"/>
        </dgm:presLayoutVars>
      </dgm:prSet>
      <dgm:spPr/>
    </dgm:pt>
  </dgm:ptLst>
  <dgm:cxnLst>
    <dgm:cxn modelId="{7507C506-D746-4E2A-97E9-55ABFDB59D26}" type="presOf" srcId="{46F63F38-4D6C-4684-B67B-076B9376FA45}" destId="{0DB603E1-E2F4-4E87-BA6C-98AB467618ED}" srcOrd="0" destOrd="0" presId="urn:microsoft.com/office/officeart/2005/8/layout/vList2"/>
    <dgm:cxn modelId="{30F18909-E452-43F7-A2CC-748131D2F823}" type="presOf" srcId="{21897050-E730-48CB-ADC5-AF3A958BB468}" destId="{914C583E-43B8-4B4C-BF44-3AEB02569EC2}" srcOrd="0" destOrd="0" presId="urn:microsoft.com/office/officeart/2005/8/layout/vList2"/>
    <dgm:cxn modelId="{8D16B209-75A0-4781-BA1F-98B6ED75074E}" type="presOf" srcId="{8689207E-7736-4720-BF2B-0BCC311F2149}" destId="{72FFE925-D2BF-4350-92F1-6B37BE80B4BD}" srcOrd="0" destOrd="0" presId="urn:microsoft.com/office/officeart/2005/8/layout/vList2"/>
    <dgm:cxn modelId="{5FACC50F-AFC7-402F-B4BA-A267570F7BA5}" srcId="{90C86BB7-3602-4440-93EB-1FD238D0AAFE}" destId="{46F63F38-4D6C-4684-B67B-076B9376FA45}" srcOrd="11" destOrd="0" parTransId="{A08854AA-0B42-4A0D-992D-DBA89E5FA176}" sibTransId="{1C49741C-F8F2-4F7D-A2A5-E1E4CFB1C69C}"/>
    <dgm:cxn modelId="{F36F7121-B44F-4FF4-A7F1-1DDF7377A386}" srcId="{90C86BB7-3602-4440-93EB-1FD238D0AAFE}" destId="{0E197479-F3DF-4665-979E-E8BA244CB364}" srcOrd="6" destOrd="0" parTransId="{0CD48B65-67AF-4932-AABF-67B42C5463F1}" sibTransId="{420013A3-E861-4527-9B29-EE68E70B375C}"/>
    <dgm:cxn modelId="{9D888228-F328-469F-B5EE-E89DEC85B948}" srcId="{90C86BB7-3602-4440-93EB-1FD238D0AAFE}" destId="{21897050-E730-48CB-ADC5-AF3A958BB468}" srcOrd="2" destOrd="0" parTransId="{E2C36396-3B45-4085-9EBB-EA69F4C9A6FA}" sibTransId="{DA2A6F30-CC0B-43EC-AD60-D2A09E8224DF}"/>
    <dgm:cxn modelId="{58BB3A31-ED83-4115-96F1-F6037832819C}" type="presOf" srcId="{02A5A05A-AB95-4AB9-8D80-796FB034AC40}" destId="{6A81730B-3A3C-4DA1-84A3-2309BD3C3B02}" srcOrd="0" destOrd="0" presId="urn:microsoft.com/office/officeart/2005/8/layout/vList2"/>
    <dgm:cxn modelId="{FB10993A-DF54-4741-A351-6C13593F6EDC}" srcId="{90C86BB7-3602-4440-93EB-1FD238D0AAFE}" destId="{8689207E-7736-4720-BF2B-0BCC311F2149}" srcOrd="5" destOrd="0" parTransId="{907935A4-9156-4A28-9858-FA898ACC899C}" sibTransId="{3F0FE99E-94E8-4E5A-893F-BBE43A1D8F3F}"/>
    <dgm:cxn modelId="{2C66B03A-8A81-44E6-866A-3592468050AF}" srcId="{90C86BB7-3602-4440-93EB-1FD238D0AAFE}" destId="{CBFF9025-43C1-4AFD-B3F7-CC4264A10A37}" srcOrd="1" destOrd="0" parTransId="{042B84FA-7123-4267-BB17-A3258B5D2AF2}" sibTransId="{64084EF3-6F7B-4CA5-AE88-34A6F4C7FFAD}"/>
    <dgm:cxn modelId="{C5DD5E3F-629D-47A5-8001-B61CB3900063}" srcId="{90C86BB7-3602-4440-93EB-1FD238D0AAFE}" destId="{E8E7A8F2-0E92-4C78-9CB3-5939D2F662A2}" srcOrd="7" destOrd="0" parTransId="{D2B0416D-A6F5-4D54-846A-840E5CA27B40}" sibTransId="{00B7FA88-F189-4DF4-A0B5-F30256F229A2}"/>
    <dgm:cxn modelId="{EED4C955-3044-4E3E-9114-1BDB80B7A605}" type="presOf" srcId="{F7788104-7C34-401C-BDDE-BE7AA84CFA4C}" destId="{FD38CCAB-29E9-4D3F-A5AF-F8B196514108}" srcOrd="0" destOrd="0" presId="urn:microsoft.com/office/officeart/2005/8/layout/vList2"/>
    <dgm:cxn modelId="{6E83C45A-6BDD-4ED3-A96D-CE2380B303F1}" type="presOf" srcId="{E8E7A8F2-0E92-4C78-9CB3-5939D2F662A2}" destId="{A05A5447-16D8-4B4F-962A-CEFF27EF0059}" srcOrd="0" destOrd="0" presId="urn:microsoft.com/office/officeart/2005/8/layout/vList2"/>
    <dgm:cxn modelId="{5DFDB987-C446-4255-A25A-A4A3C94DCB82}" type="presOf" srcId="{90C86BB7-3602-4440-93EB-1FD238D0AAFE}" destId="{EEF0E462-8C7E-43AC-BEF4-C9C5EC1CD3B1}" srcOrd="0" destOrd="0" presId="urn:microsoft.com/office/officeart/2005/8/layout/vList2"/>
    <dgm:cxn modelId="{528E0B8C-6DC0-4182-99D2-35DE607FE18E}" srcId="{90C86BB7-3602-4440-93EB-1FD238D0AAFE}" destId="{2FCBAE49-EFF7-4437-AF27-FC4BED3AB1F5}" srcOrd="10" destOrd="0" parTransId="{BD14C021-77CB-4AEE-911F-8333D46DE289}" sibTransId="{86545F31-2EB9-478E-833C-ACD523348FEB}"/>
    <dgm:cxn modelId="{EF54E48C-4FF4-451C-B2B4-50C65AAFDFE4}" srcId="{90C86BB7-3602-4440-93EB-1FD238D0AAFE}" destId="{F7788104-7C34-401C-BDDE-BE7AA84CFA4C}" srcOrd="8" destOrd="0" parTransId="{6DA4C15A-2DCF-4D31-A66D-9B3F8E806105}" sibTransId="{DEBB8B11-80AC-49E5-B729-DF6809826FF2}"/>
    <dgm:cxn modelId="{07CED191-3E97-4372-B03D-1A1CDFA1ECE4}" type="presOf" srcId="{E224CBED-86BA-43F9-8694-8F71C2B83506}" destId="{B9CBE92E-AB21-453A-BA2F-C1D03A7C5245}" srcOrd="0" destOrd="0" presId="urn:microsoft.com/office/officeart/2005/8/layout/vList2"/>
    <dgm:cxn modelId="{B2D4FAAC-1FE9-49F3-ADE9-4FFCDB124FD6}" type="presOf" srcId="{CBFF9025-43C1-4AFD-B3F7-CC4264A10A37}" destId="{0F19F305-32A7-41A3-B233-8414635EAF78}" srcOrd="0" destOrd="0" presId="urn:microsoft.com/office/officeart/2005/8/layout/vList2"/>
    <dgm:cxn modelId="{24E2D2B3-B9D4-4C4F-B08E-81817DE0E556}" type="presOf" srcId="{2FCBAE49-EFF7-4437-AF27-FC4BED3AB1F5}" destId="{7F6154F2-95F4-4663-82DD-DF7A13A42552}" srcOrd="0" destOrd="0" presId="urn:microsoft.com/office/officeart/2005/8/layout/vList2"/>
    <dgm:cxn modelId="{D283C2D3-12CF-4B4B-9689-955AFAE36412}" srcId="{90C86BB7-3602-4440-93EB-1FD238D0AAFE}" destId="{1541D6F9-DCB5-4042-8F4B-1F8233AC90C0}" srcOrd="4" destOrd="0" parTransId="{32AC1F62-FB81-4D20-AB6A-537BC9978FF8}" sibTransId="{CA48EFAD-8988-4D0E-BBDF-7B2B9B5D0907}"/>
    <dgm:cxn modelId="{7C3B98D9-816B-4E60-A955-30E0D54A196C}" type="presOf" srcId="{1541D6F9-DCB5-4042-8F4B-1F8233AC90C0}" destId="{2CCD48D5-6958-4113-94C1-235C84D13625}" srcOrd="0" destOrd="0" presId="urn:microsoft.com/office/officeart/2005/8/layout/vList2"/>
    <dgm:cxn modelId="{1A633EE9-5690-4DDE-943D-C65D973844B5}" srcId="{90C86BB7-3602-4440-93EB-1FD238D0AAFE}" destId="{02A5A05A-AB95-4AB9-8D80-796FB034AC40}" srcOrd="9" destOrd="0" parTransId="{1F9D9DE9-D849-4E81-8C40-1D2F7E7D1438}" sibTransId="{55B67772-1E41-423A-A78E-875D01E1954F}"/>
    <dgm:cxn modelId="{1FB1F8EC-0F74-4B6F-9C01-4193CFDEE827}" srcId="{90C86BB7-3602-4440-93EB-1FD238D0AAFE}" destId="{E224CBED-86BA-43F9-8694-8F71C2B83506}" srcOrd="0" destOrd="0" parTransId="{1481179F-D9DC-4D9C-BB91-AD10F8BC79B0}" sibTransId="{2AD69402-0E8D-415D-A670-D45901BB3DAA}"/>
    <dgm:cxn modelId="{E55AE1EE-FAC4-4A7F-B562-9BB8E40657BD}" type="presOf" srcId="{A5C692F5-376B-4D71-8B61-DC4E1524FC13}" destId="{8B7680E2-42FF-4DCA-87E0-2532FD822370}" srcOrd="0" destOrd="0" presId="urn:microsoft.com/office/officeart/2005/8/layout/vList2"/>
    <dgm:cxn modelId="{E8BC74F7-511A-48B4-AA15-8DDEBB3DCF8E}" srcId="{90C86BB7-3602-4440-93EB-1FD238D0AAFE}" destId="{A5C692F5-376B-4D71-8B61-DC4E1524FC13}" srcOrd="3" destOrd="0" parTransId="{5055DF39-FECC-4915-88BC-76A35DEB0214}" sibTransId="{A99790B2-CA7D-4B90-A622-07EF059F1502}"/>
    <dgm:cxn modelId="{CCEA79F9-C913-41E9-A416-94A67AF0F6A8}" type="presOf" srcId="{0E197479-F3DF-4665-979E-E8BA244CB364}" destId="{C87F07B1-843E-4CC1-BA78-88BE9D4D56FF}" srcOrd="0" destOrd="0" presId="urn:microsoft.com/office/officeart/2005/8/layout/vList2"/>
    <dgm:cxn modelId="{F7A0AD03-7F33-4C17-ADDC-622CA38D48EE}" type="presParOf" srcId="{EEF0E462-8C7E-43AC-BEF4-C9C5EC1CD3B1}" destId="{B9CBE92E-AB21-453A-BA2F-C1D03A7C5245}" srcOrd="0" destOrd="0" presId="urn:microsoft.com/office/officeart/2005/8/layout/vList2"/>
    <dgm:cxn modelId="{7C8C6A64-3043-4ACE-BB2A-6135C7E163E7}" type="presParOf" srcId="{EEF0E462-8C7E-43AC-BEF4-C9C5EC1CD3B1}" destId="{F89DC482-4DD5-4048-869D-7D70B16E517B}" srcOrd="1" destOrd="0" presId="urn:microsoft.com/office/officeart/2005/8/layout/vList2"/>
    <dgm:cxn modelId="{E23DB85D-E49C-43B8-A2CF-BC2AB509D62B}" type="presParOf" srcId="{EEF0E462-8C7E-43AC-BEF4-C9C5EC1CD3B1}" destId="{0F19F305-32A7-41A3-B233-8414635EAF78}" srcOrd="2" destOrd="0" presId="urn:microsoft.com/office/officeart/2005/8/layout/vList2"/>
    <dgm:cxn modelId="{414BFD20-0C47-4C31-8601-A4BACDF6F544}" type="presParOf" srcId="{EEF0E462-8C7E-43AC-BEF4-C9C5EC1CD3B1}" destId="{00F2C19F-4889-4ECF-8DCC-1413E3AF8A85}" srcOrd="3" destOrd="0" presId="urn:microsoft.com/office/officeart/2005/8/layout/vList2"/>
    <dgm:cxn modelId="{40F445E9-E2B1-401F-B7DE-0EAD6DDC1967}" type="presParOf" srcId="{EEF0E462-8C7E-43AC-BEF4-C9C5EC1CD3B1}" destId="{914C583E-43B8-4B4C-BF44-3AEB02569EC2}" srcOrd="4" destOrd="0" presId="urn:microsoft.com/office/officeart/2005/8/layout/vList2"/>
    <dgm:cxn modelId="{6BE1D0FA-78B1-4963-9809-D50C9E3D39C8}" type="presParOf" srcId="{EEF0E462-8C7E-43AC-BEF4-C9C5EC1CD3B1}" destId="{8E5E5BC1-5EE3-4B08-80CD-13D0CB8A4545}" srcOrd="5" destOrd="0" presId="urn:microsoft.com/office/officeart/2005/8/layout/vList2"/>
    <dgm:cxn modelId="{DBB0B836-4323-4F52-A450-7F1660B0FC60}" type="presParOf" srcId="{EEF0E462-8C7E-43AC-BEF4-C9C5EC1CD3B1}" destId="{8B7680E2-42FF-4DCA-87E0-2532FD822370}" srcOrd="6" destOrd="0" presId="urn:microsoft.com/office/officeart/2005/8/layout/vList2"/>
    <dgm:cxn modelId="{6C83E9D1-CE3C-485D-9155-5E8324764C85}" type="presParOf" srcId="{EEF0E462-8C7E-43AC-BEF4-C9C5EC1CD3B1}" destId="{855A7FC4-BDC6-4055-B7BD-9AA8297F5F72}" srcOrd="7" destOrd="0" presId="urn:microsoft.com/office/officeart/2005/8/layout/vList2"/>
    <dgm:cxn modelId="{0591A821-7054-42C2-A039-78705E2B258F}" type="presParOf" srcId="{EEF0E462-8C7E-43AC-BEF4-C9C5EC1CD3B1}" destId="{2CCD48D5-6958-4113-94C1-235C84D13625}" srcOrd="8" destOrd="0" presId="urn:microsoft.com/office/officeart/2005/8/layout/vList2"/>
    <dgm:cxn modelId="{B42A102A-64E0-431C-B28A-849BED628728}" type="presParOf" srcId="{EEF0E462-8C7E-43AC-BEF4-C9C5EC1CD3B1}" destId="{515E20EB-F1D5-4DCE-B129-DABC2021BA6D}" srcOrd="9" destOrd="0" presId="urn:microsoft.com/office/officeart/2005/8/layout/vList2"/>
    <dgm:cxn modelId="{0D8CEE6B-1B71-4B57-8F98-6755EB24C752}" type="presParOf" srcId="{EEF0E462-8C7E-43AC-BEF4-C9C5EC1CD3B1}" destId="{72FFE925-D2BF-4350-92F1-6B37BE80B4BD}" srcOrd="10" destOrd="0" presId="urn:microsoft.com/office/officeart/2005/8/layout/vList2"/>
    <dgm:cxn modelId="{E833FB62-6FC2-495F-B90B-C187BD89214B}" type="presParOf" srcId="{EEF0E462-8C7E-43AC-BEF4-C9C5EC1CD3B1}" destId="{16ECA6F2-4575-4836-A7C7-0B80012C8AD6}" srcOrd="11" destOrd="0" presId="urn:microsoft.com/office/officeart/2005/8/layout/vList2"/>
    <dgm:cxn modelId="{A341BCB1-9249-4F1A-9885-0223E9625CAA}" type="presParOf" srcId="{EEF0E462-8C7E-43AC-BEF4-C9C5EC1CD3B1}" destId="{C87F07B1-843E-4CC1-BA78-88BE9D4D56FF}" srcOrd="12" destOrd="0" presId="urn:microsoft.com/office/officeart/2005/8/layout/vList2"/>
    <dgm:cxn modelId="{A402D01A-4BD5-483A-AE4D-7EC156BC4790}" type="presParOf" srcId="{EEF0E462-8C7E-43AC-BEF4-C9C5EC1CD3B1}" destId="{5D82C4A0-C62F-483D-B732-901C5994D170}" srcOrd="13" destOrd="0" presId="urn:microsoft.com/office/officeart/2005/8/layout/vList2"/>
    <dgm:cxn modelId="{F3FC7A8A-100A-4DDE-B3F8-116B8A8D675F}" type="presParOf" srcId="{EEF0E462-8C7E-43AC-BEF4-C9C5EC1CD3B1}" destId="{A05A5447-16D8-4B4F-962A-CEFF27EF0059}" srcOrd="14" destOrd="0" presId="urn:microsoft.com/office/officeart/2005/8/layout/vList2"/>
    <dgm:cxn modelId="{9E44C4E2-6D2F-48D4-A890-488A5C20F3FE}" type="presParOf" srcId="{EEF0E462-8C7E-43AC-BEF4-C9C5EC1CD3B1}" destId="{B139F572-19D4-484A-A3DD-122B46633270}" srcOrd="15" destOrd="0" presId="urn:microsoft.com/office/officeart/2005/8/layout/vList2"/>
    <dgm:cxn modelId="{6B5BED8B-639C-4E4B-841D-2E2C73E1AF53}" type="presParOf" srcId="{EEF0E462-8C7E-43AC-BEF4-C9C5EC1CD3B1}" destId="{FD38CCAB-29E9-4D3F-A5AF-F8B196514108}" srcOrd="16" destOrd="0" presId="urn:microsoft.com/office/officeart/2005/8/layout/vList2"/>
    <dgm:cxn modelId="{469D0CD4-9C89-46D3-9AFA-F89C2875AFD3}" type="presParOf" srcId="{EEF0E462-8C7E-43AC-BEF4-C9C5EC1CD3B1}" destId="{2DEE1D41-C778-45E3-8E56-3B1643AB3F32}" srcOrd="17" destOrd="0" presId="urn:microsoft.com/office/officeart/2005/8/layout/vList2"/>
    <dgm:cxn modelId="{CD3482FD-6791-49AF-8A22-F830990DB37B}" type="presParOf" srcId="{EEF0E462-8C7E-43AC-BEF4-C9C5EC1CD3B1}" destId="{6A81730B-3A3C-4DA1-84A3-2309BD3C3B02}" srcOrd="18" destOrd="0" presId="urn:microsoft.com/office/officeart/2005/8/layout/vList2"/>
    <dgm:cxn modelId="{DC2C5501-BDC9-4A22-8350-B58BF6F81D50}" type="presParOf" srcId="{EEF0E462-8C7E-43AC-BEF4-C9C5EC1CD3B1}" destId="{EBD5BE82-3948-4CF8-B5FA-9DFE42636C54}" srcOrd="19" destOrd="0" presId="urn:microsoft.com/office/officeart/2005/8/layout/vList2"/>
    <dgm:cxn modelId="{16288612-DD92-430E-8DB5-F86F9C2240C5}" type="presParOf" srcId="{EEF0E462-8C7E-43AC-BEF4-C9C5EC1CD3B1}" destId="{7F6154F2-95F4-4663-82DD-DF7A13A42552}" srcOrd="20" destOrd="0" presId="urn:microsoft.com/office/officeart/2005/8/layout/vList2"/>
    <dgm:cxn modelId="{75B6A571-323D-4819-BF78-177CC400A857}" type="presParOf" srcId="{EEF0E462-8C7E-43AC-BEF4-C9C5EC1CD3B1}" destId="{00045FBF-1817-45C3-9E8C-E4841C719694}" srcOrd="21" destOrd="0" presId="urn:microsoft.com/office/officeart/2005/8/layout/vList2"/>
    <dgm:cxn modelId="{6B2B3388-F027-4CFB-B284-CCB66A53CA43}" type="presParOf" srcId="{EEF0E462-8C7E-43AC-BEF4-C9C5EC1CD3B1}" destId="{0DB603E1-E2F4-4E87-BA6C-98AB467618ED}" srcOrd="2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CBE92E-AB21-453A-BA2F-C1D03A7C5245}">
      <dsp:nvSpPr>
        <dsp:cNvPr id="0" name=""/>
        <dsp:cNvSpPr/>
      </dsp:nvSpPr>
      <dsp:spPr>
        <a:xfrm>
          <a:off x="0" y="4724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Batting Approach: Select technically sound batsmen who can handle swing bowling.</a:t>
          </a:r>
          <a:endParaRPr lang="en-IN" sz="900" kern="1200"/>
        </a:p>
      </dsp:txBody>
      <dsp:txXfrm>
        <a:off x="22789" y="70030"/>
        <a:ext cx="7941744" cy="421251"/>
      </dsp:txXfrm>
    </dsp:sp>
    <dsp:sp modelId="{0F19F305-32A7-41A3-B233-8414635EAF78}">
      <dsp:nvSpPr>
        <dsp:cNvPr id="0" name=""/>
        <dsp:cNvSpPr/>
      </dsp:nvSpPr>
      <dsp:spPr>
        <a:xfrm>
          <a:off x="0" y="57455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Fielding Adjustments: Emphasize slip catching practice due to the likelihood of edges in such conditions.</a:t>
          </a:r>
          <a:endParaRPr lang="en-IN" sz="900" kern="1200"/>
        </a:p>
      </dsp:txBody>
      <dsp:txXfrm>
        <a:off x="22789" y="597340"/>
        <a:ext cx="7941744" cy="421251"/>
      </dsp:txXfrm>
    </dsp:sp>
    <dsp:sp modelId="{914C583E-43B8-4B4C-BF44-3AEB02569EC2}">
      <dsp:nvSpPr>
        <dsp:cNvPr id="0" name=""/>
        <dsp:cNvSpPr/>
      </dsp:nvSpPr>
      <dsp:spPr>
        <a:xfrm>
          <a:off x="0" y="110186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Spin Strategy: Utilize spinners in the middle overs to control the run rate.</a:t>
          </a:r>
          <a:endParaRPr lang="en-IN" sz="900" kern="1200"/>
        </a:p>
      </dsp:txBody>
      <dsp:txXfrm>
        <a:off x="22789" y="1124650"/>
        <a:ext cx="7941744" cy="421251"/>
      </dsp:txXfrm>
    </dsp:sp>
    <dsp:sp modelId="{8B7680E2-42FF-4DCA-87E0-2532FD822370}">
      <dsp:nvSpPr>
        <dsp:cNvPr id="0" name=""/>
        <dsp:cNvSpPr/>
      </dsp:nvSpPr>
      <dsp:spPr>
        <a:xfrm>
          <a:off x="0" y="162917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Power Hitters: Include batsmen who can clear the boundary in the later overs.</a:t>
          </a:r>
          <a:endParaRPr lang="en-IN" sz="900" kern="1200"/>
        </a:p>
      </dsp:txBody>
      <dsp:txXfrm>
        <a:off x="22789" y="1651960"/>
        <a:ext cx="7941744" cy="421251"/>
      </dsp:txXfrm>
    </dsp:sp>
    <dsp:sp modelId="{2CCD48D5-6958-4113-94C1-235C84D13625}">
      <dsp:nvSpPr>
        <dsp:cNvPr id="0" name=""/>
        <dsp:cNvSpPr/>
      </dsp:nvSpPr>
      <dsp:spPr>
        <a:xfrm>
          <a:off x="0" y="215648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Pace Attack: Bring in fast bowlers who can bowl cutters and slower balls effectively.</a:t>
          </a:r>
          <a:endParaRPr lang="en-IN" sz="900" kern="1200"/>
        </a:p>
      </dsp:txBody>
      <dsp:txXfrm>
        <a:off x="22789" y="2179270"/>
        <a:ext cx="7941744" cy="421251"/>
      </dsp:txXfrm>
    </dsp:sp>
    <dsp:sp modelId="{72FFE925-D2BF-4350-92F1-6B37BE80B4BD}">
      <dsp:nvSpPr>
        <dsp:cNvPr id="0" name=""/>
        <dsp:cNvSpPr/>
      </dsp:nvSpPr>
      <dsp:spPr>
        <a:xfrm>
          <a:off x="0" y="268379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Top Order Stability: Ensure top-order batsmen build a solid foundation to allow for aggressive play later.</a:t>
          </a:r>
          <a:endParaRPr lang="en-IN" sz="900" kern="1200"/>
        </a:p>
      </dsp:txBody>
      <dsp:txXfrm>
        <a:off x="22789" y="2706580"/>
        <a:ext cx="7941744" cy="421251"/>
      </dsp:txXfrm>
    </dsp:sp>
    <dsp:sp modelId="{C87F07B1-843E-4CC1-BA78-88BE9D4D56FF}">
      <dsp:nvSpPr>
        <dsp:cNvPr id="0" name=""/>
        <dsp:cNvSpPr/>
      </dsp:nvSpPr>
      <dsp:spPr>
        <a:xfrm>
          <a:off x="0" y="321110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dirty="0"/>
            <a:t>All-Rounder Utilization: Play an extra all-rounder to provide depth in both batting and bowling.</a:t>
          </a:r>
          <a:endParaRPr lang="en-IN" sz="900" kern="1200" dirty="0"/>
        </a:p>
      </dsp:txBody>
      <dsp:txXfrm>
        <a:off x="22789" y="3233890"/>
        <a:ext cx="7941744" cy="421251"/>
      </dsp:txXfrm>
    </dsp:sp>
    <dsp:sp modelId="{A05A5447-16D8-4B4F-962A-CEFF27EF0059}">
      <dsp:nvSpPr>
        <dsp:cNvPr id="0" name=""/>
        <dsp:cNvSpPr/>
      </dsp:nvSpPr>
      <dsp:spPr>
        <a:xfrm>
          <a:off x="0" y="373841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Opening Partnership: Focus on a strong start from the openers to set the pace of the innings.</a:t>
          </a:r>
          <a:endParaRPr lang="en-IN" sz="900" kern="1200"/>
        </a:p>
      </dsp:txBody>
      <dsp:txXfrm>
        <a:off x="22789" y="3761200"/>
        <a:ext cx="7941744" cy="421251"/>
      </dsp:txXfrm>
    </dsp:sp>
    <dsp:sp modelId="{FD38CCAB-29E9-4D3F-A5AF-F8B196514108}">
      <dsp:nvSpPr>
        <dsp:cNvPr id="0" name=""/>
        <dsp:cNvSpPr/>
      </dsp:nvSpPr>
      <dsp:spPr>
        <a:xfrm>
          <a:off x="0" y="426572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Fielding Focus: Prioritize fielding drills to ensure sharpness in the field.</a:t>
          </a:r>
          <a:endParaRPr lang="en-IN" sz="900" kern="1200"/>
        </a:p>
      </dsp:txBody>
      <dsp:txXfrm>
        <a:off x="22789" y="4288510"/>
        <a:ext cx="7941744" cy="421251"/>
      </dsp:txXfrm>
    </dsp:sp>
    <dsp:sp modelId="{6A81730B-3A3C-4DA1-84A3-2309BD3C3B02}">
      <dsp:nvSpPr>
        <dsp:cNvPr id="0" name=""/>
        <dsp:cNvSpPr/>
      </dsp:nvSpPr>
      <dsp:spPr>
        <a:xfrm>
          <a:off x="0" y="479303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Finishers’ Role: Assign clear roles to finishers to maintain or accelerate the run rate towards the end.</a:t>
          </a:r>
          <a:endParaRPr lang="en-IN" sz="900" kern="1200"/>
        </a:p>
      </dsp:txBody>
      <dsp:txXfrm>
        <a:off x="22789" y="4815820"/>
        <a:ext cx="7941744" cy="421251"/>
      </dsp:txXfrm>
    </dsp:sp>
    <dsp:sp modelId="{7F6154F2-95F4-4663-82DD-DF7A13A42552}">
      <dsp:nvSpPr>
        <dsp:cNvPr id="0" name=""/>
        <dsp:cNvSpPr/>
      </dsp:nvSpPr>
      <dsp:spPr>
        <a:xfrm>
          <a:off x="0" y="532034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a:t>Rest &amp; Recuperation : Ensure that players get enough rest and time to recuperate between matches to enhance their performance and consistency.</a:t>
          </a:r>
          <a:endParaRPr lang="en-IN" sz="900" kern="1200"/>
        </a:p>
      </dsp:txBody>
      <dsp:txXfrm>
        <a:off x="22789" y="5343130"/>
        <a:ext cx="7941744" cy="421251"/>
      </dsp:txXfrm>
    </dsp:sp>
    <dsp:sp modelId="{0DB603E1-E2F4-4E87-BA6C-98AB467618ED}">
      <dsp:nvSpPr>
        <dsp:cNvPr id="0" name=""/>
        <dsp:cNvSpPr/>
      </dsp:nvSpPr>
      <dsp:spPr>
        <a:xfrm>
          <a:off x="0" y="5847651"/>
          <a:ext cx="7987322" cy="46682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kern="1200" dirty="0"/>
            <a:t>For each match, the strategies should be tailored to the opponent’s weaknesses and the conditions on the day. Continuous analysis of player performance and opposition tactics will be crucial for adapting strategies throughout the series. Additionally, maintaining player fitness and morale will be essential for the team’s success.</a:t>
          </a:r>
          <a:endParaRPr lang="en-IN" sz="900" kern="1200" dirty="0"/>
        </a:p>
      </dsp:txBody>
      <dsp:txXfrm>
        <a:off x="22789" y="5870440"/>
        <a:ext cx="7941744" cy="42125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7/4/2024</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7/4/2024</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961386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464007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799336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484764" y="1986926"/>
            <a:ext cx="5377144" cy="2057441"/>
          </a:xfrm>
        </p:spPr>
        <p:txBody>
          <a:bodyPr/>
          <a:lstStyle/>
          <a:p>
            <a:r>
              <a:rPr lang="en-US" altLang="zh-CN" dirty="0"/>
              <a:t>Capstone Project</a:t>
            </a:r>
            <a:br>
              <a:rPr lang="en-US" altLang="zh-CN" dirty="0"/>
            </a:br>
            <a:r>
              <a:rPr lang="en-US" altLang="zh-CN" dirty="0"/>
              <a:t>Cricket Win Prediction</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p:txBody>
          <a:bodyPr/>
          <a:lstStyle/>
          <a:p>
            <a:r>
              <a:rPr lang="en-US" dirty="0"/>
              <a:t>Rohit Akut</a:t>
            </a:r>
          </a:p>
        </p:txBody>
      </p:sp>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extLst>
              <a:ext uri="{28A0092B-C50C-407E-A947-70E740481C1C}">
                <a14:useLocalDpi xmlns:a14="http://schemas.microsoft.com/office/drawing/2010/main"/>
              </a:ext>
            </a:extLst>
          </a:blip>
          <a:srcRect t="1875" r="1875"/>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pic>
        <p:nvPicPr>
          <p:cNvPr id="3" name="Picture 2" descr="A red ball on a wooden bat on a grass field">
            <a:extLst>
              <a:ext uri="{FF2B5EF4-FFF2-40B4-BE49-F238E27FC236}">
                <a16:creationId xmlns:a16="http://schemas.microsoft.com/office/drawing/2014/main" id="{BD84D145-B2DE-7F09-7227-A985605C1E60}"/>
              </a:ext>
            </a:extLst>
          </p:cNvPr>
          <p:cNvPicPr>
            <a:picLocks noChangeAspect="1"/>
          </p:cNvPicPr>
          <p:nvPr/>
        </p:nvPicPr>
        <p:blipFill>
          <a:blip r:embed="rId4"/>
          <a:stretch>
            <a:fillRect/>
          </a:stretch>
        </p:blipFill>
        <p:spPr>
          <a:xfrm>
            <a:off x="6861907" y="0"/>
            <a:ext cx="5330093" cy="6858000"/>
          </a:xfrm>
          <a:prstGeom prst="rect">
            <a:avLst/>
          </a:prstGeo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p:txBody>
          <a:bodyPr/>
          <a:lstStyle/>
          <a:p>
            <a:r>
              <a:rPr lang="en-US" altLang="zh-CN" dirty="0"/>
              <a:t>Agenda</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dirty="0"/>
              <a:t>1</a:t>
            </a:r>
          </a:p>
          <a:p>
            <a:r>
              <a:rPr lang="en-US" dirty="0"/>
              <a:t>Introduction</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dirty="0"/>
              <a:t>2</a:t>
            </a:r>
          </a:p>
          <a:p>
            <a:r>
              <a:rPr lang="en-US" dirty="0"/>
              <a:t>Data Preparation</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r>
              <a:rPr lang="en-US" dirty="0"/>
              <a:t>3</a:t>
            </a:r>
          </a:p>
          <a:p>
            <a:r>
              <a:rPr lang="en-US" dirty="0"/>
              <a:t>Methodology &amp; Model Building </a:t>
            </a: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US" dirty="0"/>
              <a:t>4</a:t>
            </a:r>
          </a:p>
          <a:p>
            <a:r>
              <a:rPr lang="en-US" dirty="0"/>
              <a:t>Model Tuning &amp; Selection</a:t>
            </a: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a:xfrm>
            <a:off x="8268677" y="4439138"/>
            <a:ext cx="2094523" cy="1267821"/>
          </a:xfrm>
        </p:spPr>
        <p:txBody>
          <a:bodyPr/>
          <a:lstStyle/>
          <a:p>
            <a:r>
              <a:rPr lang="en-US" dirty="0"/>
              <a:t>5</a:t>
            </a:r>
          </a:p>
          <a:p>
            <a:r>
              <a:rPr lang="en-US" dirty="0"/>
              <a:t>Conclusion &amp;   Recommendations</a:t>
            </a:r>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sp>
        <p:nvSpPr>
          <p:cNvPr id="8" name="Footer Placeholder 7">
            <a:extLst>
              <a:ext uri="{FF2B5EF4-FFF2-40B4-BE49-F238E27FC236}">
                <a16:creationId xmlns:a16="http://schemas.microsoft.com/office/drawing/2014/main" id="{D36D0CF6-7418-9349-F7A8-045EA96B2D03}"/>
              </a:ext>
            </a:extLst>
          </p:cNvPr>
          <p:cNvSpPr>
            <a:spLocks noGrp="1"/>
          </p:cNvSpPr>
          <p:nvPr>
            <p:ph type="ftr" sz="quarter" idx="33"/>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p:txBody>
          <a:bodyPr/>
          <a:lstStyle/>
          <a:p>
            <a:fld id="{47FEACEE-25B4-4A2D-B147-27296E36371D}" type="slidenum">
              <a:rPr lang="en-US" altLang="zh-CN" smtClean="0"/>
              <a:pPr/>
              <a:t>2</a:t>
            </a:fld>
            <a:endParaRPr lang="en-US" altLang="zh-CN" dirty="0"/>
          </a:p>
        </p:txBody>
      </p:sp>
    </p:spTree>
    <p:extLst>
      <p:ext uri="{BB962C8B-B14F-4D97-AF65-F5344CB8AC3E}">
        <p14:creationId xmlns:p14="http://schemas.microsoft.com/office/powerpoint/2010/main" val="277553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0963-075E-4113-BB02-DBEED2BEDB7E}"/>
              </a:ext>
            </a:extLst>
          </p:cNvPr>
          <p:cNvSpPr>
            <a:spLocks noGrp="1"/>
          </p:cNvSpPr>
          <p:nvPr>
            <p:ph type="title"/>
          </p:nvPr>
        </p:nvSpPr>
        <p:spPr/>
        <p:txBody>
          <a:bodyPr/>
          <a:lstStyle/>
          <a:p>
            <a:r>
              <a:rPr lang="en-US" dirty="0"/>
              <a:t>Data Prep</a:t>
            </a:r>
            <a:endParaRPr lang="en-IN" dirty="0"/>
          </a:p>
        </p:txBody>
      </p:sp>
      <p:sp>
        <p:nvSpPr>
          <p:cNvPr id="3" name="Text Placeholder 2">
            <a:extLst>
              <a:ext uri="{FF2B5EF4-FFF2-40B4-BE49-F238E27FC236}">
                <a16:creationId xmlns:a16="http://schemas.microsoft.com/office/drawing/2014/main" id="{CED09730-F6B4-D1C8-BB0B-C4DA78AD8950}"/>
              </a:ext>
            </a:extLst>
          </p:cNvPr>
          <p:cNvSpPr>
            <a:spLocks noGrp="1"/>
          </p:cNvSpPr>
          <p:nvPr>
            <p:ph type="body" sz="quarter" idx="28"/>
          </p:nvPr>
        </p:nvSpPr>
        <p:spPr/>
        <p:txBody>
          <a:bodyPr/>
          <a:lstStyle/>
          <a:p>
            <a:r>
              <a:rPr lang="en-US" dirty="0"/>
              <a:t>Data cleaning</a:t>
            </a:r>
          </a:p>
          <a:p>
            <a:r>
              <a:rPr lang="en-US" dirty="0"/>
              <a:t>Erroneous value treatment</a:t>
            </a:r>
            <a:endParaRPr lang="en-IN" dirty="0"/>
          </a:p>
        </p:txBody>
      </p:sp>
      <p:sp>
        <p:nvSpPr>
          <p:cNvPr id="4" name="Text Placeholder 3">
            <a:extLst>
              <a:ext uri="{FF2B5EF4-FFF2-40B4-BE49-F238E27FC236}">
                <a16:creationId xmlns:a16="http://schemas.microsoft.com/office/drawing/2014/main" id="{3362597C-211D-7A3B-1900-FC526381C088}"/>
              </a:ext>
            </a:extLst>
          </p:cNvPr>
          <p:cNvSpPr>
            <a:spLocks noGrp="1"/>
          </p:cNvSpPr>
          <p:nvPr>
            <p:ph type="body" sz="quarter" idx="29"/>
          </p:nvPr>
        </p:nvSpPr>
        <p:spPr/>
        <p:txBody>
          <a:bodyPr/>
          <a:lstStyle/>
          <a:p>
            <a:r>
              <a:rPr lang="en-US" dirty="0"/>
              <a:t>Dropping of variables </a:t>
            </a:r>
            <a:endParaRPr lang="en-IN" dirty="0"/>
          </a:p>
        </p:txBody>
      </p:sp>
      <p:sp>
        <p:nvSpPr>
          <p:cNvPr id="5" name="Text Placeholder 4">
            <a:extLst>
              <a:ext uri="{FF2B5EF4-FFF2-40B4-BE49-F238E27FC236}">
                <a16:creationId xmlns:a16="http://schemas.microsoft.com/office/drawing/2014/main" id="{ED2433DF-46B3-4F90-8CBE-1C4CF51988CB}"/>
              </a:ext>
            </a:extLst>
          </p:cNvPr>
          <p:cNvSpPr>
            <a:spLocks noGrp="1"/>
          </p:cNvSpPr>
          <p:nvPr>
            <p:ph type="body" sz="quarter" idx="30"/>
          </p:nvPr>
        </p:nvSpPr>
        <p:spPr/>
        <p:txBody>
          <a:bodyPr/>
          <a:lstStyle/>
          <a:p>
            <a:r>
              <a:rPr lang="en-US" dirty="0"/>
              <a:t>Null &amp; Missing value treatment using Mean, Median, Mode </a:t>
            </a:r>
            <a:endParaRPr lang="en-IN" dirty="0"/>
          </a:p>
        </p:txBody>
      </p:sp>
      <p:sp>
        <p:nvSpPr>
          <p:cNvPr id="6" name="Text Placeholder 5">
            <a:extLst>
              <a:ext uri="{FF2B5EF4-FFF2-40B4-BE49-F238E27FC236}">
                <a16:creationId xmlns:a16="http://schemas.microsoft.com/office/drawing/2014/main" id="{CDD20A92-3B55-587F-93CA-757A527D806B}"/>
              </a:ext>
            </a:extLst>
          </p:cNvPr>
          <p:cNvSpPr>
            <a:spLocks noGrp="1"/>
          </p:cNvSpPr>
          <p:nvPr>
            <p:ph type="body" sz="quarter" idx="31"/>
          </p:nvPr>
        </p:nvSpPr>
        <p:spPr/>
        <p:txBody>
          <a:bodyPr/>
          <a:lstStyle/>
          <a:p>
            <a:r>
              <a:rPr lang="en-US" dirty="0"/>
              <a:t>EDA to understand variable relationships</a:t>
            </a:r>
            <a:endParaRPr lang="en-IN" dirty="0"/>
          </a:p>
        </p:txBody>
      </p:sp>
      <p:sp>
        <p:nvSpPr>
          <p:cNvPr id="7" name="Text Placeholder 6">
            <a:extLst>
              <a:ext uri="{FF2B5EF4-FFF2-40B4-BE49-F238E27FC236}">
                <a16:creationId xmlns:a16="http://schemas.microsoft.com/office/drawing/2014/main" id="{BE55B219-C5DB-01C1-AA76-BAFC270E68D8}"/>
              </a:ext>
            </a:extLst>
          </p:cNvPr>
          <p:cNvSpPr>
            <a:spLocks noGrp="1"/>
          </p:cNvSpPr>
          <p:nvPr>
            <p:ph type="body" sz="quarter" idx="32"/>
          </p:nvPr>
        </p:nvSpPr>
        <p:spPr/>
        <p:txBody>
          <a:bodyPr/>
          <a:lstStyle/>
          <a:p>
            <a:endParaRPr lang="en-IN"/>
          </a:p>
        </p:txBody>
      </p:sp>
      <p:sp>
        <p:nvSpPr>
          <p:cNvPr id="8" name="Footer Placeholder 7">
            <a:extLst>
              <a:ext uri="{FF2B5EF4-FFF2-40B4-BE49-F238E27FC236}">
                <a16:creationId xmlns:a16="http://schemas.microsoft.com/office/drawing/2014/main" id="{C522B29E-9A2C-24B6-88AC-27ACE57E6542}"/>
              </a:ext>
            </a:extLst>
          </p:cNvPr>
          <p:cNvSpPr>
            <a:spLocks noGrp="1"/>
          </p:cNvSpPr>
          <p:nvPr>
            <p:ph type="ftr" sz="quarter" idx="33"/>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AFC263E1-8F49-CF9E-0F96-DEDD01798B24}"/>
              </a:ext>
            </a:extLst>
          </p:cNvPr>
          <p:cNvSpPr>
            <a:spLocks noGrp="1"/>
          </p:cNvSpPr>
          <p:nvPr>
            <p:ph type="sldNum" sz="quarter" idx="34"/>
          </p:nvPr>
        </p:nvSpPr>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3446909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266916" y="789354"/>
            <a:ext cx="5359820" cy="2633101"/>
          </a:xfrm>
        </p:spPr>
        <p:txBody>
          <a:bodyPr/>
          <a:lstStyle/>
          <a:p>
            <a:r>
              <a:rPr lang="en-US" altLang="zh-CN" dirty="0"/>
              <a:t>Introduction – Business problem &amp; understanding </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p:txBody>
          <a:bodyPr/>
          <a:lstStyle/>
          <a:p>
            <a:r>
              <a:rPr lang="en-US" b="1" i="0" dirty="0">
                <a:solidFill>
                  <a:srgbClr val="111111"/>
                </a:solidFill>
                <a:effectLst/>
                <a:latin typeface="-apple-system"/>
              </a:rPr>
              <a:t>Objective:</a:t>
            </a:r>
            <a:r>
              <a:rPr lang="en-US" b="0" i="0" dirty="0">
                <a:solidFill>
                  <a:srgbClr val="111111"/>
                </a:solidFill>
                <a:effectLst/>
                <a:latin typeface="-apple-system"/>
              </a:rPr>
              <a:t> Enhance India’s cricket performance by creating accurate Machine Learning models that predict match wins. Extract actionable insights from historical data and recommend strategies to further increase chances of future wins.</a:t>
            </a:r>
            <a:endParaRPr lang="en-US" dirty="0"/>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Presentation title</a:t>
            </a:r>
            <a:endParaRPr lang="en-US" dirty="0"/>
          </a:p>
        </p:txBody>
      </p:sp>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4</a:t>
            </a:fld>
            <a:endParaRPr lang="en-US" altLang="zh-CN" dirty="0"/>
          </a:p>
        </p:txBody>
      </p:sp>
      <p:sp>
        <p:nvSpPr>
          <p:cNvPr id="3" name="Picture Placeholder 2">
            <a:extLst>
              <a:ext uri="{FF2B5EF4-FFF2-40B4-BE49-F238E27FC236}">
                <a16:creationId xmlns:a16="http://schemas.microsoft.com/office/drawing/2014/main" id="{C9F88721-85EE-9C5A-1BF4-B7778B9E310B}"/>
              </a:ext>
            </a:extLst>
          </p:cNvPr>
          <p:cNvSpPr>
            <a:spLocks noGrp="1"/>
          </p:cNvSpPr>
          <p:nvPr>
            <p:ph type="pic" sz="quarter" idx="51"/>
          </p:nvPr>
        </p:nvSpPr>
        <p:spPr>
          <a:xfrm>
            <a:off x="5564555" y="0"/>
            <a:ext cx="6627446" cy="6858000"/>
          </a:xfrm>
        </p:spPr>
        <p:txBody>
          <a:bodyPr/>
          <a:lstStyle/>
          <a:p>
            <a:endParaRPr lang="en-IN" dirty="0"/>
          </a:p>
        </p:txBody>
      </p:sp>
      <p:sp>
        <p:nvSpPr>
          <p:cNvPr id="11" name="TextBox 10">
            <a:extLst>
              <a:ext uri="{FF2B5EF4-FFF2-40B4-BE49-F238E27FC236}">
                <a16:creationId xmlns:a16="http://schemas.microsoft.com/office/drawing/2014/main" id="{AA9D58C4-1C17-F8BB-6C6E-0BFCE059E2A6}"/>
              </a:ext>
            </a:extLst>
          </p:cNvPr>
          <p:cNvSpPr txBox="1"/>
          <p:nvPr/>
        </p:nvSpPr>
        <p:spPr>
          <a:xfrm>
            <a:off x="5734877" y="1499449"/>
            <a:ext cx="6214846" cy="3480055"/>
          </a:xfrm>
          <a:prstGeom prst="rect">
            <a:avLst/>
          </a:prstGeom>
          <a:noFill/>
        </p:spPr>
        <p:txBody>
          <a:bodyPr wrap="square">
            <a:spAutoFit/>
          </a:bodyPr>
          <a:lstStyle/>
          <a:p>
            <a:pPr algn="ctr">
              <a:lnSpc>
                <a:spcPct val="107000"/>
              </a:lnSpc>
              <a:spcAft>
                <a:spcPts val="800"/>
              </a:spcAft>
            </a:pPr>
            <a:r>
              <a:rPr lang="en-IN" sz="1800" kern="100" dirty="0">
                <a:effectLst/>
                <a:ea typeface="Aptos" panose="020B0004020202020204" pitchFamily="34" charset="0"/>
                <a:cs typeface="Times New Roman" panose="02020603050405020304" pitchFamily="18" charset="0"/>
              </a:rPr>
              <a:t>       The business opportunity in this project lies in the potential to revolutionize the way cricket matches are strategized and played. By leveraging </a:t>
            </a:r>
            <a:r>
              <a:rPr lang="en-IN" sz="1800" i="1" u="sng" kern="100" dirty="0">
                <a:effectLst/>
                <a:ea typeface="Aptos" panose="020B0004020202020204" pitchFamily="34" charset="0"/>
                <a:cs typeface="Times New Roman" panose="02020603050405020304" pitchFamily="18" charset="0"/>
              </a:rPr>
              <a:t>data analytics </a:t>
            </a:r>
            <a:r>
              <a:rPr lang="en-IN" sz="1800" kern="100" dirty="0">
                <a:effectLst/>
                <a:ea typeface="Aptos" panose="020B0004020202020204" pitchFamily="34" charset="0"/>
                <a:cs typeface="Times New Roman" panose="02020603050405020304" pitchFamily="18" charset="0"/>
              </a:rPr>
              <a:t>and </a:t>
            </a:r>
            <a:r>
              <a:rPr lang="en-IN" sz="1800" i="1" u="sng" kern="100" dirty="0">
                <a:effectLst/>
                <a:ea typeface="Aptos" panose="020B0004020202020204" pitchFamily="34" charset="0"/>
                <a:cs typeface="Times New Roman" panose="02020603050405020304" pitchFamily="18" charset="0"/>
              </a:rPr>
              <a:t>machine learning</a:t>
            </a:r>
            <a:r>
              <a:rPr lang="en-IN" sz="1800" kern="100" dirty="0">
                <a:effectLst/>
                <a:ea typeface="Aptos" panose="020B0004020202020204" pitchFamily="34" charset="0"/>
                <a:cs typeface="Times New Roman" panose="02020603050405020304" pitchFamily="18" charset="0"/>
              </a:rPr>
              <a:t>, the Board of Control for Cricket in India (BCCI) aims to gain a competitive edge in the sport.</a:t>
            </a:r>
          </a:p>
          <a:p>
            <a:pPr algn="ctr">
              <a:lnSpc>
                <a:spcPct val="107000"/>
              </a:lnSpc>
              <a:spcAft>
                <a:spcPts val="800"/>
              </a:spcAft>
            </a:pPr>
            <a:r>
              <a:rPr lang="en-IN" sz="1800" kern="100" dirty="0">
                <a:effectLst/>
                <a:ea typeface="Aptos" panose="020B0004020202020204" pitchFamily="34" charset="0"/>
                <a:cs typeface="Times New Roman" panose="02020603050405020304" pitchFamily="18" charset="0"/>
              </a:rPr>
              <a:t>        </a:t>
            </a:r>
            <a:r>
              <a:rPr lang="en-IN" sz="1800" i="1" u="sng" kern="100" dirty="0">
                <a:effectLst/>
                <a:ea typeface="Aptos" panose="020B0004020202020204" pitchFamily="34" charset="0"/>
                <a:cs typeface="Times New Roman" panose="02020603050405020304" pitchFamily="18" charset="0"/>
              </a:rPr>
              <a:t>This also introduces another  unbiased factor when choosing players based on their merits and past data.</a:t>
            </a:r>
          </a:p>
          <a:p>
            <a:pPr algn="ctr"/>
            <a:r>
              <a:rPr lang="en-IN" sz="1800" dirty="0">
                <a:effectLst/>
                <a:ea typeface="Aptos" panose="020B0004020202020204" pitchFamily="34" charset="0"/>
                <a:cs typeface="Times New Roman" panose="02020603050405020304" pitchFamily="18" charset="0"/>
              </a:rPr>
              <a:t>From a business perspective, this project could lead to more victories for the Indian Cricket Team, enhancing the team’s reputation and potentially leading to increased revenue. </a:t>
            </a:r>
            <a:r>
              <a:rPr lang="en-IN" sz="1800" i="1" u="sng" dirty="0">
                <a:effectLst/>
                <a:ea typeface="Aptos" panose="020B0004020202020204" pitchFamily="34" charset="0"/>
                <a:cs typeface="Times New Roman" panose="02020603050405020304" pitchFamily="18" charset="0"/>
              </a:rPr>
              <a:t>With a few tweaks this can be used in other team sports as well</a:t>
            </a:r>
            <a:endParaRPr lang="en-IN" i="1" u="sng" dirty="0"/>
          </a:p>
        </p:txBody>
      </p:sp>
    </p:spTree>
    <p:extLst>
      <p:ext uri="{BB962C8B-B14F-4D97-AF65-F5344CB8AC3E}">
        <p14:creationId xmlns:p14="http://schemas.microsoft.com/office/powerpoint/2010/main" val="77554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6B251-685E-D201-0CA5-AA360723A04F}"/>
              </a:ext>
            </a:extLst>
          </p:cNvPr>
          <p:cNvSpPr>
            <a:spLocks noGrp="1"/>
          </p:cNvSpPr>
          <p:nvPr>
            <p:ph type="title"/>
          </p:nvPr>
        </p:nvSpPr>
        <p:spPr>
          <a:xfrm>
            <a:off x="509574" y="274956"/>
            <a:ext cx="5117162" cy="1522582"/>
          </a:xfrm>
        </p:spPr>
        <p:txBody>
          <a:bodyPr anchor="ctr">
            <a:normAutofit/>
          </a:bodyPr>
          <a:lstStyle/>
          <a:p>
            <a:r>
              <a:rPr lang="en-US" dirty="0"/>
              <a:t>Model Selection approach </a:t>
            </a:r>
            <a:endParaRPr lang="en-IN" dirty="0"/>
          </a:p>
        </p:txBody>
      </p:sp>
      <p:sp>
        <p:nvSpPr>
          <p:cNvPr id="3" name="Text Placeholder 2">
            <a:extLst>
              <a:ext uri="{FF2B5EF4-FFF2-40B4-BE49-F238E27FC236}">
                <a16:creationId xmlns:a16="http://schemas.microsoft.com/office/drawing/2014/main" id="{2CE939EC-D82D-8E34-0015-EC25A926A506}"/>
              </a:ext>
            </a:extLst>
          </p:cNvPr>
          <p:cNvSpPr>
            <a:spLocks noGrp="1"/>
          </p:cNvSpPr>
          <p:nvPr>
            <p:ph type="body" sz="quarter" idx="28"/>
          </p:nvPr>
        </p:nvSpPr>
        <p:spPr>
          <a:xfrm>
            <a:off x="509574" y="2508738"/>
            <a:ext cx="4260850" cy="3251199"/>
          </a:xfrm>
        </p:spPr>
        <p:txBody>
          <a:bodyPr>
            <a:noAutofit/>
          </a:bodyPr>
          <a:lstStyle/>
          <a:p>
            <a:r>
              <a:rPr lang="en-US" sz="1400" dirty="0"/>
              <a:t>Since we encounter a classification problem which is WIN/LOSS We needed to chose models wisely as cricket is an unpredictable game and as such the models we chose needed to vary in degrees of robustness, accuracy, tackle overfitting and work with a hugely biased dataset. </a:t>
            </a:r>
            <a:r>
              <a:rPr lang="en-US" sz="1400" b="0" i="0" dirty="0">
                <a:effectLst/>
              </a:rPr>
              <a:t>Can handle categorical and numerical variables. Can capture non-linear relationships between features. Provide insights into feature importance and interactions</a:t>
            </a:r>
          </a:p>
          <a:p>
            <a:r>
              <a:rPr lang="en-IN" sz="1400" dirty="0">
                <a:effectLst/>
                <a:ea typeface="Aptos" panose="020B0004020202020204" pitchFamily="34" charset="0"/>
                <a:cs typeface="Times New Roman" panose="02020603050405020304" pitchFamily="18" charset="0"/>
              </a:rPr>
              <a:t>By trying out different models, we can compare their performance and choose the one that works best for our specific problem. As , the best model is not always the most complex one - it’s the one that performs best on unseen data.</a:t>
            </a:r>
            <a:endParaRPr lang="en-US" sz="1400" b="0" i="0" dirty="0">
              <a:effectLst/>
            </a:endParaRPr>
          </a:p>
          <a:p>
            <a:endParaRPr lang="en-IN" sz="1400" dirty="0"/>
          </a:p>
        </p:txBody>
      </p:sp>
      <p:sp>
        <p:nvSpPr>
          <p:cNvPr id="5" name="Footer Placeholder 4">
            <a:extLst>
              <a:ext uri="{FF2B5EF4-FFF2-40B4-BE49-F238E27FC236}">
                <a16:creationId xmlns:a16="http://schemas.microsoft.com/office/drawing/2014/main" id="{AF386EEA-29BD-244E-EAC4-74286B47646A}"/>
              </a:ext>
            </a:extLst>
          </p:cNvPr>
          <p:cNvSpPr>
            <a:spLocks noGrp="1"/>
          </p:cNvSpPr>
          <p:nvPr>
            <p:ph type="ftr" sz="quarter" idx="52"/>
          </p:nvPr>
        </p:nvSpPr>
        <p:spPr>
          <a:xfrm>
            <a:off x="484632" y="6217920"/>
            <a:ext cx="4114800" cy="365125"/>
          </a:xfrm>
        </p:spPr>
        <p:txBody>
          <a:bodyPr anchor="ct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46301721-6D61-225C-5BF5-73B7264C683A}"/>
              </a:ext>
            </a:extLst>
          </p:cNvPr>
          <p:cNvSpPr>
            <a:spLocks noGrp="1"/>
          </p:cNvSpPr>
          <p:nvPr>
            <p:ph type="sldNum" sz="quarter" idx="53"/>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5</a:t>
            </a:fld>
            <a:endParaRPr lang="en-US" altLang="zh-CN"/>
          </a:p>
        </p:txBody>
      </p:sp>
      <p:pic>
        <p:nvPicPr>
          <p:cNvPr id="18" name="Picture Placeholder 17" descr="A black and white text on a black background&#10;&#10;Description automatically generated">
            <a:extLst>
              <a:ext uri="{FF2B5EF4-FFF2-40B4-BE49-F238E27FC236}">
                <a16:creationId xmlns:a16="http://schemas.microsoft.com/office/drawing/2014/main" id="{AEDA0710-E5CC-E72C-7C17-90FB1D9E7E83}"/>
              </a:ext>
              <a:ext uri="{C183D7F6-B498-43B3-948B-1728B52AA6E4}">
                <adec:decorative xmlns:adec="http://schemas.microsoft.com/office/drawing/2017/decorative" val="0"/>
              </a:ext>
            </a:extLst>
          </p:cNvPr>
          <p:cNvPicPr>
            <a:picLocks noGrp="1" noChangeAspect="1"/>
          </p:cNvPicPr>
          <p:nvPr>
            <p:ph type="pic" sz="quarter" idx="51"/>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5203666" y="0"/>
            <a:ext cx="6988333" cy="6858000"/>
          </a:xfrm>
          <a:prstGeom prst="rect">
            <a:avLst/>
          </a:prstGeom>
        </p:spPr>
      </p:pic>
      <p:pic>
        <p:nvPicPr>
          <p:cNvPr id="28" name="Picture 27">
            <a:extLst>
              <a:ext uri="{FF2B5EF4-FFF2-40B4-BE49-F238E27FC236}">
                <a16:creationId xmlns:a16="http://schemas.microsoft.com/office/drawing/2014/main" id="{0A9FD519-1AD8-48AD-9493-84829A459FEE}"/>
              </a:ext>
            </a:extLst>
          </p:cNvPr>
          <p:cNvPicPr>
            <a:picLocks noChangeAspect="1"/>
          </p:cNvPicPr>
          <p:nvPr/>
        </p:nvPicPr>
        <p:blipFill>
          <a:blip r:embed="rId4"/>
          <a:stretch>
            <a:fillRect/>
          </a:stretch>
        </p:blipFill>
        <p:spPr>
          <a:xfrm>
            <a:off x="4789094" y="460423"/>
            <a:ext cx="6982156" cy="5924062"/>
          </a:xfrm>
          <a:prstGeom prst="rect">
            <a:avLst/>
          </a:prstGeom>
        </p:spPr>
      </p:pic>
    </p:spTree>
    <p:extLst>
      <p:ext uri="{BB962C8B-B14F-4D97-AF65-F5344CB8AC3E}">
        <p14:creationId xmlns:p14="http://schemas.microsoft.com/office/powerpoint/2010/main" val="568091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FC101F03-8617-09D4-619B-F38E2F0A4F15}"/>
              </a:ext>
            </a:extLst>
          </p:cNvPr>
          <p:cNvSpPr>
            <a:spLocks noGrp="1"/>
          </p:cNvSpPr>
          <p:nvPr>
            <p:ph type="body" sz="quarter" idx="28"/>
          </p:nvPr>
        </p:nvSpPr>
        <p:spPr>
          <a:xfrm>
            <a:off x="750277" y="2860431"/>
            <a:ext cx="4595446" cy="765907"/>
          </a:xfrm>
        </p:spPr>
        <p:txBody>
          <a:bodyPr/>
          <a:lstStyle/>
          <a:p>
            <a:r>
              <a:rPr lang="en-US" dirty="0"/>
              <a:t>Model building </a:t>
            </a:r>
          </a:p>
        </p:txBody>
      </p:sp>
      <p:pic>
        <p:nvPicPr>
          <p:cNvPr id="48" name="Picture placeholder 19" descr="Layout of website design sketches on white paper">
            <a:extLst>
              <a:ext uri="{FF2B5EF4-FFF2-40B4-BE49-F238E27FC236}">
                <a16:creationId xmlns:a16="http://schemas.microsoft.com/office/drawing/2014/main" id="{6D25AB81-B10A-BD11-E8FE-ECF8CB1B12F0}"/>
              </a:ext>
            </a:extLst>
          </p:cNvPr>
          <p:cNvPicPr>
            <a:picLocks noGrp="1" noChangeAspect="1"/>
          </p:cNvPicPr>
          <p:nvPr>
            <p:ph type="pic" sz="quarter" idx="47"/>
          </p:nvPr>
        </p:nvPicPr>
        <p:blipFill>
          <a:blip r:embed="rId3">
            <a:extLst>
              <a:ext uri="{28A0092B-C50C-407E-A947-70E740481C1C}">
                <a14:useLocalDpi xmlns:a14="http://schemas.microsoft.com/office/drawing/2010/main"/>
              </a:ext>
            </a:extLst>
          </a:blip>
          <a:srcRect/>
          <a:stretch/>
        </p:blipFill>
        <p:spPr>
          <a:blipFill>
            <a:blip r:embed="rId4"/>
            <a:stretch>
              <a:fillRect/>
            </a:stretch>
          </a:blipFill>
        </p:spPr>
      </p:pic>
      <p:graphicFrame>
        <p:nvGraphicFramePr>
          <p:cNvPr id="5" name="Table 4">
            <a:extLst>
              <a:ext uri="{FF2B5EF4-FFF2-40B4-BE49-F238E27FC236}">
                <a16:creationId xmlns:a16="http://schemas.microsoft.com/office/drawing/2014/main" id="{77328059-B41D-8B37-4E5E-EACE9377EE6C}"/>
              </a:ext>
            </a:extLst>
          </p:cNvPr>
          <p:cNvGraphicFramePr>
            <a:graphicFrameLocks noGrp="1"/>
          </p:cNvGraphicFramePr>
          <p:nvPr>
            <p:extLst>
              <p:ext uri="{D42A27DB-BD31-4B8C-83A1-F6EECF244321}">
                <p14:modId xmlns:p14="http://schemas.microsoft.com/office/powerpoint/2010/main" val="885201307"/>
              </p:ext>
            </p:extLst>
          </p:nvPr>
        </p:nvGraphicFramePr>
        <p:xfrm>
          <a:off x="6205415" y="304801"/>
          <a:ext cx="5767753" cy="5902275"/>
        </p:xfrm>
        <a:graphic>
          <a:graphicData uri="http://schemas.openxmlformats.org/drawingml/2006/table">
            <a:tbl>
              <a:tblPr>
                <a:tableStyleId>{8799B23B-EC83-4686-B30A-512413B5E67A}</a:tableStyleId>
              </a:tblPr>
              <a:tblGrid>
                <a:gridCol w="2035577">
                  <a:extLst>
                    <a:ext uri="{9D8B030D-6E8A-4147-A177-3AD203B41FA5}">
                      <a16:colId xmlns:a16="http://schemas.microsoft.com/office/drawing/2014/main" val="2329777506"/>
                    </a:ext>
                  </a:extLst>
                </a:gridCol>
                <a:gridCol w="933044">
                  <a:extLst>
                    <a:ext uri="{9D8B030D-6E8A-4147-A177-3AD203B41FA5}">
                      <a16:colId xmlns:a16="http://schemas.microsoft.com/office/drawing/2014/main" val="3879433483"/>
                    </a:ext>
                  </a:extLst>
                </a:gridCol>
                <a:gridCol w="933044">
                  <a:extLst>
                    <a:ext uri="{9D8B030D-6E8A-4147-A177-3AD203B41FA5}">
                      <a16:colId xmlns:a16="http://schemas.microsoft.com/office/drawing/2014/main" val="2943981970"/>
                    </a:ext>
                  </a:extLst>
                </a:gridCol>
                <a:gridCol w="933044">
                  <a:extLst>
                    <a:ext uri="{9D8B030D-6E8A-4147-A177-3AD203B41FA5}">
                      <a16:colId xmlns:a16="http://schemas.microsoft.com/office/drawing/2014/main" val="4280320501"/>
                    </a:ext>
                  </a:extLst>
                </a:gridCol>
                <a:gridCol w="933044">
                  <a:extLst>
                    <a:ext uri="{9D8B030D-6E8A-4147-A177-3AD203B41FA5}">
                      <a16:colId xmlns:a16="http://schemas.microsoft.com/office/drawing/2014/main" val="3956660233"/>
                    </a:ext>
                  </a:extLst>
                </a:gridCol>
              </a:tblGrid>
              <a:tr h="236091">
                <a:tc>
                  <a:txBody>
                    <a:bodyPr/>
                    <a:lstStyle/>
                    <a:p>
                      <a:pPr algn="l" fontAlgn="b"/>
                      <a:r>
                        <a:rPr lang="en-IN" sz="1100" b="0" u="none" strike="noStrike" dirty="0">
                          <a:solidFill>
                            <a:srgbClr val="000000"/>
                          </a:solidFill>
                          <a:effectLst/>
                        </a:rPr>
                        <a:t>Model</a:t>
                      </a:r>
                      <a:endParaRPr lang="en-IN" sz="1100" b="0" i="0" u="none" strike="noStrike" dirty="0">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Set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Accuracy</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Precision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Recall</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019411258"/>
                  </a:ext>
                </a:extLst>
              </a:tr>
              <a:tr h="236091">
                <a:tc>
                  <a:txBody>
                    <a:bodyPr/>
                    <a:lstStyle/>
                    <a:p>
                      <a:pPr algn="l" fontAlgn="b"/>
                      <a:r>
                        <a:rPr lang="en-IN" sz="1100" b="0" u="none" strike="noStrike" dirty="0">
                          <a:solidFill>
                            <a:srgbClr val="000000"/>
                          </a:solidFill>
                          <a:effectLst/>
                        </a:rPr>
                        <a:t>Logistic Regression</a:t>
                      </a:r>
                      <a:endParaRPr lang="en-IN" sz="1100" b="0" i="0" u="none" strike="noStrike" dirty="0">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0.64</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0.04</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0.08</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075805399"/>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0.84</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0.91</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343229977"/>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0.89</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0.06</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0.11</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1083184221"/>
                  </a:ext>
                </a:extLst>
              </a:tr>
              <a:tr h="236091">
                <a:tc>
                  <a:txBody>
                    <a:bodyPr/>
                    <a:lstStyle/>
                    <a:p>
                      <a:pPr algn="l" fontAlgn="b"/>
                      <a:endParaRPr lang="en-IN" sz="1100" b="0" i="0" u="none" strike="noStrike" dirty="0">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0.84</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0.91</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13183876"/>
                  </a:ext>
                </a:extLst>
              </a:tr>
              <a:tr h="236091">
                <a:tc>
                  <a:txBody>
                    <a:bodyPr/>
                    <a:lstStyle/>
                    <a:p>
                      <a:pPr algn="l" fontAlgn="b"/>
                      <a:r>
                        <a:rPr lang="en-IN" sz="1100" b="0" u="none" strike="noStrike" dirty="0">
                          <a:solidFill>
                            <a:srgbClr val="000000"/>
                          </a:solidFill>
                          <a:effectLst/>
                        </a:rPr>
                        <a:t>KNN</a:t>
                      </a:r>
                      <a:endParaRPr lang="en-IN" sz="1100" b="0" i="0" u="none" strike="noStrike" dirty="0">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0.71</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0.37</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0.49</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792497283"/>
                  </a:ext>
                </a:extLst>
              </a:tr>
              <a:tr h="236091">
                <a:tc>
                  <a:txBody>
                    <a:bodyPr/>
                    <a:lstStyle/>
                    <a:p>
                      <a:pPr algn="l" fontAlgn="b"/>
                      <a:endParaRPr lang="en-IN" sz="1100" b="0" i="0" u="none" strike="noStrike" dirty="0">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0.89</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0.97</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0.93</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819169437"/>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0.48</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0.20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0.29</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566023540"/>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0.86</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0.96</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0.90</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50719961"/>
                  </a:ext>
                </a:extLst>
              </a:tr>
              <a:tr h="236091">
                <a:tc>
                  <a:txBody>
                    <a:bodyPr/>
                    <a:lstStyle/>
                    <a:p>
                      <a:pPr algn="l" fontAlgn="b"/>
                      <a:r>
                        <a:rPr lang="en-IN" sz="1100" b="0" u="none" strike="noStrike">
                          <a:solidFill>
                            <a:srgbClr val="000000"/>
                          </a:solidFill>
                          <a:effectLst/>
                        </a:rPr>
                        <a:t>Decision Tree</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895356838"/>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129408371"/>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0.72</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0.76</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326392740"/>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0.95</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0.97</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0.96</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1257087157"/>
                  </a:ext>
                </a:extLst>
              </a:tr>
              <a:tr h="236091">
                <a:tc>
                  <a:txBody>
                    <a:bodyPr/>
                    <a:lstStyle/>
                    <a:p>
                      <a:pPr algn="l" fontAlgn="b"/>
                      <a:r>
                        <a:rPr lang="en-IN" sz="1100" b="0" u="none" strike="noStrike">
                          <a:solidFill>
                            <a:srgbClr val="000000"/>
                          </a:solidFill>
                          <a:effectLst/>
                        </a:rPr>
                        <a:t>Random Forest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456468137"/>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531747117"/>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0.98</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0.73</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0.84</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383600808"/>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0.95</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0.97</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1111215310"/>
                  </a:ext>
                </a:extLst>
              </a:tr>
              <a:tr h="236091">
                <a:tc>
                  <a:txBody>
                    <a:bodyPr/>
                    <a:lstStyle/>
                    <a:p>
                      <a:pPr algn="l" fontAlgn="b"/>
                      <a:r>
                        <a:rPr lang="en-IN" sz="1100" b="0" u="none" strike="noStrike">
                          <a:solidFill>
                            <a:srgbClr val="000000"/>
                          </a:solidFill>
                          <a:effectLst/>
                        </a:rPr>
                        <a:t>LDA</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0.65</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0.25</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0.36</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1032768063"/>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0.87</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0.97</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0.92</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624259873"/>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0.58</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0.22</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0.32</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215172449"/>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0.86</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0.97</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0.91</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519519782"/>
                  </a:ext>
                </a:extLst>
              </a:tr>
              <a:tr h="236091">
                <a:tc>
                  <a:txBody>
                    <a:bodyPr/>
                    <a:lstStyle/>
                    <a:p>
                      <a:pPr algn="l" fontAlgn="b"/>
                      <a:r>
                        <a:rPr lang="en-IN" sz="1100" b="0" u="none" strike="noStrike">
                          <a:solidFill>
                            <a:srgbClr val="000000"/>
                          </a:solidFill>
                          <a:effectLst/>
                        </a:rPr>
                        <a:t>Neural Network</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0.17</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0.29</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3994627375"/>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Train</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0.00</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1647939097"/>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0.16</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1.00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0.28</a:t>
                      </a:r>
                      <a:endParaRPr lang="en-IN" sz="1100" b="0" i="0" u="none" strike="noStrike">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16101940"/>
                  </a:ext>
                </a:extLst>
              </a:tr>
              <a:tr h="236091">
                <a:tc>
                  <a:txBody>
                    <a:bodyPr/>
                    <a:lstStyle/>
                    <a:p>
                      <a:pPr algn="l" fontAlgn="b"/>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Test</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a:solidFill>
                            <a:srgbClr val="000000"/>
                          </a:solidFill>
                          <a:effectLst/>
                        </a:rPr>
                        <a:t>0.00</a:t>
                      </a:r>
                      <a:endParaRPr lang="en-IN" sz="1100" b="0" i="0" u="none" strike="noStrike">
                        <a:solidFill>
                          <a:srgbClr val="000000"/>
                        </a:solidFill>
                        <a:effectLst/>
                        <a:latin typeface="Calibri" panose="020F0502020204030204" pitchFamily="34" charset="0"/>
                      </a:endParaRPr>
                    </a:p>
                  </a:txBody>
                  <a:tcPr marL="5615" marR="5615" marT="5615" marB="33688" anchor="b"/>
                </a:tc>
                <a:tc>
                  <a:txBody>
                    <a:bodyPr/>
                    <a:lstStyle/>
                    <a:p>
                      <a:pPr algn="l" fontAlgn="b"/>
                      <a:r>
                        <a:rPr lang="en-IN" sz="1100" b="0" u="none" strike="noStrike" dirty="0">
                          <a:solidFill>
                            <a:srgbClr val="000000"/>
                          </a:solidFill>
                          <a:effectLst/>
                        </a:rPr>
                        <a:t>0.00</a:t>
                      </a:r>
                      <a:endParaRPr lang="en-IN" sz="1100" b="0" i="0" u="none" strike="noStrike" dirty="0">
                        <a:solidFill>
                          <a:srgbClr val="000000"/>
                        </a:solidFill>
                        <a:effectLst/>
                        <a:latin typeface="Calibri" panose="020F0502020204030204" pitchFamily="34" charset="0"/>
                      </a:endParaRPr>
                    </a:p>
                  </a:txBody>
                  <a:tcPr marL="5615" marR="5615" marT="5615" marB="33688" anchor="b"/>
                </a:tc>
                <a:extLst>
                  <a:ext uri="{0D108BD9-81ED-4DB2-BD59-A6C34878D82A}">
                    <a16:rowId xmlns:a16="http://schemas.microsoft.com/office/drawing/2014/main" val="273509008"/>
                  </a:ext>
                </a:extLst>
              </a:tr>
            </a:tbl>
          </a:graphicData>
        </a:graphic>
      </p:graphicFrame>
    </p:spTree>
    <p:extLst>
      <p:ext uri="{BB962C8B-B14F-4D97-AF65-F5344CB8AC3E}">
        <p14:creationId xmlns:p14="http://schemas.microsoft.com/office/powerpoint/2010/main" val="2478079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C6EC6F6-F346-241D-C2AD-CEA21AF2E091}"/>
              </a:ext>
            </a:extLst>
          </p:cNvPr>
          <p:cNvSpPr>
            <a:spLocks noGrp="1"/>
          </p:cNvSpPr>
          <p:nvPr>
            <p:ph type="title"/>
          </p:nvPr>
        </p:nvSpPr>
        <p:spPr/>
        <p:txBody>
          <a:bodyPr/>
          <a:lstStyle/>
          <a:p>
            <a:r>
              <a:rPr lang="en-US" dirty="0"/>
              <a:t>Model performance – Pre-Tuning</a:t>
            </a:r>
          </a:p>
        </p:txBody>
      </p:sp>
      <p:sp>
        <p:nvSpPr>
          <p:cNvPr id="4" name="Footer Placeholder 3">
            <a:extLst>
              <a:ext uri="{FF2B5EF4-FFF2-40B4-BE49-F238E27FC236}">
                <a16:creationId xmlns:a16="http://schemas.microsoft.com/office/drawing/2014/main" id="{8FD23934-4A07-2183-483D-999C4EEC4F76}"/>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FE20B9D-3E1B-ACAC-E328-901AE7E6D939}"/>
              </a:ext>
            </a:extLst>
          </p:cNvPr>
          <p:cNvSpPr>
            <a:spLocks noGrp="1"/>
          </p:cNvSpPr>
          <p:nvPr>
            <p:ph type="sldNum" sz="quarter" idx="29"/>
          </p:nvPr>
        </p:nvSpPr>
        <p:spPr/>
        <p:txBody>
          <a:bodyPr/>
          <a:lstStyle/>
          <a:p>
            <a:fld id="{47FEACEE-25B4-4A2D-B147-27296E36371D}" type="slidenum">
              <a:rPr lang="en-US" altLang="zh-CN" smtClean="0"/>
              <a:pPr/>
              <a:t>7</a:t>
            </a:fld>
            <a:endParaRPr lang="en-US" altLang="zh-CN" dirty="0"/>
          </a:p>
        </p:txBody>
      </p:sp>
      <p:graphicFrame>
        <p:nvGraphicFramePr>
          <p:cNvPr id="14" name="Chart Placeholder 13" descr="Bar chart">
            <a:extLst>
              <a:ext uri="{FF2B5EF4-FFF2-40B4-BE49-F238E27FC236}">
                <a16:creationId xmlns:a16="http://schemas.microsoft.com/office/drawing/2014/main" id="{B7C287C2-FD80-40E0-BEEE-ABC91A81663B}"/>
              </a:ext>
            </a:extLst>
          </p:cNvPr>
          <p:cNvGraphicFramePr>
            <a:graphicFrameLocks noGrp="1"/>
          </p:cNvGraphicFramePr>
          <p:nvPr>
            <p:ph type="chart" sz="quarter" idx="27"/>
            <p:extLst>
              <p:ext uri="{D42A27DB-BD31-4B8C-83A1-F6EECF244321}">
                <p14:modId xmlns:p14="http://schemas.microsoft.com/office/powerpoint/2010/main" val="2295757933"/>
              </p:ext>
            </p:extLst>
          </p:nvPr>
        </p:nvGraphicFramePr>
        <p:xfrm>
          <a:off x="112771" y="2494955"/>
          <a:ext cx="11657198" cy="3283545"/>
        </p:xfrm>
        <a:graphic>
          <a:graphicData uri="http://schemas.openxmlformats.org/drawingml/2006/chart">
            <c:chart xmlns:c="http://schemas.openxmlformats.org/drawingml/2006/chart" xmlns:r="http://schemas.openxmlformats.org/officeDocument/2006/relationships" r:id="rId3"/>
          </a:graphicData>
        </a:graphic>
      </p:graphicFrame>
      <p:pic>
        <p:nvPicPr>
          <p:cNvPr id="3074" name="Picture 2">
            <a:extLst>
              <a:ext uri="{FF2B5EF4-FFF2-40B4-BE49-F238E27FC236}">
                <a16:creationId xmlns:a16="http://schemas.microsoft.com/office/drawing/2014/main" id="{6C5B1160-0987-A88A-5210-6852F38A77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615" y="1500555"/>
            <a:ext cx="11388709" cy="5252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28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581709" y="721538"/>
            <a:ext cx="7780753" cy="1372985"/>
          </a:xfrm>
        </p:spPr>
        <p:txBody>
          <a:bodyPr>
            <a:normAutofit fontScale="90000"/>
          </a:bodyPr>
          <a:lstStyle/>
          <a:p>
            <a:r>
              <a:rPr lang="en-US" dirty="0"/>
              <a:t>Tuning of models via ensemble techniques like SMOTE &amp; Bagging </a:t>
            </a:r>
            <a:br>
              <a:rPr lang="en-US" dirty="0"/>
            </a:br>
            <a:br>
              <a:rPr lang="en-US" dirty="0"/>
            </a:br>
            <a:r>
              <a:rPr lang="en-US" sz="1800" dirty="0">
                <a:latin typeface="+mn-lt"/>
              </a:rPr>
              <a:t>model Performance post SMOTE</a:t>
            </a:r>
            <a:br>
              <a:rPr lang="en-US" dirty="0"/>
            </a:br>
            <a:r>
              <a:rPr lang="en-US" dirty="0"/>
              <a:t>	</a:t>
            </a:r>
            <a:br>
              <a:rPr lang="en-US" dirty="0"/>
            </a:br>
            <a:endParaRPr lang="en-US" dirty="0"/>
          </a:p>
        </p:txBody>
      </p:sp>
      <p:graphicFrame>
        <p:nvGraphicFramePr>
          <p:cNvPr id="8" name="Table 8">
            <a:extLst>
              <a:ext uri="{FF2B5EF4-FFF2-40B4-BE49-F238E27FC236}">
                <a16:creationId xmlns:a16="http://schemas.microsoft.com/office/drawing/2014/main" id="{7E5E2BDF-8ED2-40CB-B07C-B015E1420EA8}"/>
              </a:ext>
            </a:extLst>
          </p:cNvPr>
          <p:cNvGraphicFramePr>
            <a:graphicFrameLocks noGrp="1"/>
          </p:cNvGraphicFramePr>
          <p:nvPr>
            <p:ph type="tbl" sz="quarter" idx="27"/>
            <p:extLst>
              <p:ext uri="{D42A27DB-BD31-4B8C-83A1-F6EECF244321}">
                <p14:modId xmlns:p14="http://schemas.microsoft.com/office/powerpoint/2010/main" val="2595679480"/>
              </p:ext>
            </p:extLst>
          </p:nvPr>
        </p:nvGraphicFramePr>
        <p:xfrm>
          <a:off x="581023" y="2274284"/>
          <a:ext cx="4452085" cy="2625960"/>
        </p:xfrm>
        <a:graphic>
          <a:graphicData uri="http://schemas.openxmlformats.org/drawingml/2006/table">
            <a:tbl>
              <a:tblPr firstRow="1" bandRow="1">
                <a:tableStyleId>{C4B1156A-380E-4F78-BDF5-A606A8083BF9}</a:tableStyleId>
              </a:tblPr>
              <a:tblGrid>
                <a:gridCol w="940839">
                  <a:extLst>
                    <a:ext uri="{9D8B030D-6E8A-4147-A177-3AD203B41FA5}">
                      <a16:colId xmlns:a16="http://schemas.microsoft.com/office/drawing/2014/main" val="1457000769"/>
                    </a:ext>
                  </a:extLst>
                </a:gridCol>
                <a:gridCol w="807123">
                  <a:extLst>
                    <a:ext uri="{9D8B030D-6E8A-4147-A177-3AD203B41FA5}">
                      <a16:colId xmlns:a16="http://schemas.microsoft.com/office/drawing/2014/main" val="3691996355"/>
                    </a:ext>
                  </a:extLst>
                </a:gridCol>
                <a:gridCol w="750277">
                  <a:extLst>
                    <a:ext uri="{9D8B030D-6E8A-4147-A177-3AD203B41FA5}">
                      <a16:colId xmlns:a16="http://schemas.microsoft.com/office/drawing/2014/main" val="228673593"/>
                    </a:ext>
                  </a:extLst>
                </a:gridCol>
                <a:gridCol w="750276">
                  <a:extLst>
                    <a:ext uri="{9D8B030D-6E8A-4147-A177-3AD203B41FA5}">
                      <a16:colId xmlns:a16="http://schemas.microsoft.com/office/drawing/2014/main" val="1939741220"/>
                    </a:ext>
                  </a:extLst>
                </a:gridCol>
                <a:gridCol w="1203570">
                  <a:extLst>
                    <a:ext uri="{9D8B030D-6E8A-4147-A177-3AD203B41FA5}">
                      <a16:colId xmlns:a16="http://schemas.microsoft.com/office/drawing/2014/main" val="1728182267"/>
                    </a:ext>
                  </a:extLst>
                </a:gridCol>
              </a:tblGrid>
              <a:tr h="525192">
                <a:tc>
                  <a:txBody>
                    <a:bodyPr/>
                    <a:lstStyle/>
                    <a:p>
                      <a:pPr fontAlgn="b"/>
                      <a:r>
                        <a:rPr lang="en-IN" sz="1400" b="1" dirty="0">
                          <a:effectLst/>
                        </a:rPr>
                        <a:t>Model</a:t>
                      </a:r>
                    </a:p>
                  </a:txBody>
                  <a:tcPr/>
                </a:tc>
                <a:tc>
                  <a:txBody>
                    <a:bodyPr/>
                    <a:lstStyle/>
                    <a:p>
                      <a:pPr fontAlgn="b"/>
                      <a:r>
                        <a:rPr lang="en-IN" sz="1400" b="1">
                          <a:effectLst/>
                        </a:rPr>
                        <a:t>Dataset</a:t>
                      </a:r>
                    </a:p>
                  </a:txBody>
                  <a:tcPr/>
                </a:tc>
                <a:tc>
                  <a:txBody>
                    <a:bodyPr/>
                    <a:lstStyle/>
                    <a:p>
                      <a:pPr fontAlgn="b"/>
                      <a:r>
                        <a:rPr lang="en-IN" sz="1400" b="1" dirty="0">
                          <a:effectLst/>
                        </a:rPr>
                        <a:t>Class 0</a:t>
                      </a:r>
                    </a:p>
                  </a:txBody>
                  <a:tcPr/>
                </a:tc>
                <a:tc>
                  <a:txBody>
                    <a:bodyPr/>
                    <a:lstStyle/>
                    <a:p>
                      <a:pPr fontAlgn="b"/>
                      <a:r>
                        <a:rPr lang="en-IN" sz="1400" b="1" dirty="0">
                          <a:effectLst/>
                        </a:rPr>
                        <a:t>Class 1</a:t>
                      </a:r>
                    </a:p>
                  </a:txBody>
                  <a:tcPr/>
                </a:tc>
                <a:tc>
                  <a:txBody>
                    <a:bodyPr/>
                    <a:lstStyle/>
                    <a:p>
                      <a:pPr fontAlgn="b"/>
                      <a:r>
                        <a:rPr lang="en-IN" sz="1400" b="1" dirty="0">
                          <a:effectLst/>
                        </a:rPr>
                        <a:t>Accuracy</a:t>
                      </a:r>
                    </a:p>
                  </a:txBody>
                  <a:tcPr/>
                </a:tc>
                <a:extLst>
                  <a:ext uri="{0D108BD9-81ED-4DB2-BD59-A6C34878D82A}">
                    <a16:rowId xmlns:a16="http://schemas.microsoft.com/office/drawing/2014/main" val="704343578"/>
                  </a:ext>
                </a:extLst>
              </a:tr>
              <a:tr h="525192">
                <a:tc>
                  <a:txBody>
                    <a:bodyPr/>
                    <a:lstStyle/>
                    <a:p>
                      <a:pPr fontAlgn="base"/>
                      <a:r>
                        <a:rPr lang="en-IN" sz="1400" dirty="0">
                          <a:effectLst/>
                        </a:rPr>
                        <a:t>Decision Tree</a:t>
                      </a:r>
                    </a:p>
                  </a:txBody>
                  <a:tcPr/>
                </a:tc>
                <a:tc>
                  <a:txBody>
                    <a:bodyPr/>
                    <a:lstStyle/>
                    <a:p>
                      <a:pPr fontAlgn="base"/>
                      <a:r>
                        <a:rPr lang="en-IN" sz="1400" dirty="0">
                          <a:effectLst/>
                        </a:rPr>
                        <a:t>Test</a:t>
                      </a:r>
                    </a:p>
                  </a:txBody>
                  <a:tcPr/>
                </a:tc>
                <a:tc>
                  <a:txBody>
                    <a:bodyPr/>
                    <a:lstStyle/>
                    <a:p>
                      <a:pPr fontAlgn="base"/>
                      <a:r>
                        <a:rPr lang="en-IN" sz="1400" dirty="0">
                          <a:effectLst/>
                        </a:rPr>
                        <a:t>0.93</a:t>
                      </a:r>
                    </a:p>
                  </a:txBody>
                  <a:tcPr/>
                </a:tc>
                <a:tc>
                  <a:txBody>
                    <a:bodyPr/>
                    <a:lstStyle/>
                    <a:p>
                      <a:pPr fontAlgn="base"/>
                      <a:r>
                        <a:rPr lang="en-IN" sz="1400">
                          <a:effectLst/>
                        </a:rPr>
                        <a:t>0.97</a:t>
                      </a:r>
                    </a:p>
                  </a:txBody>
                  <a:tcPr/>
                </a:tc>
                <a:tc>
                  <a:txBody>
                    <a:bodyPr/>
                    <a:lstStyle/>
                    <a:p>
                      <a:pPr fontAlgn="base"/>
                      <a:r>
                        <a:rPr lang="en-IN" sz="1400" dirty="0">
                          <a:effectLst/>
                        </a:rPr>
                        <a:t>0.95</a:t>
                      </a:r>
                    </a:p>
                  </a:txBody>
                  <a:tcPr/>
                </a:tc>
                <a:extLst>
                  <a:ext uri="{0D108BD9-81ED-4DB2-BD59-A6C34878D82A}">
                    <a16:rowId xmlns:a16="http://schemas.microsoft.com/office/drawing/2014/main" val="322234691"/>
                  </a:ext>
                </a:extLst>
              </a:tr>
              <a:tr h="525192">
                <a:tc>
                  <a:txBody>
                    <a:bodyPr/>
                    <a:lstStyle/>
                    <a:p>
                      <a:pPr fontAlgn="base"/>
                      <a:r>
                        <a:rPr lang="en-IN" sz="1400">
                          <a:effectLst/>
                        </a:rPr>
                        <a:t>Decision Tree</a:t>
                      </a:r>
                    </a:p>
                  </a:txBody>
                  <a:tcPr/>
                </a:tc>
                <a:tc>
                  <a:txBody>
                    <a:bodyPr/>
                    <a:lstStyle/>
                    <a:p>
                      <a:pPr fontAlgn="base"/>
                      <a:r>
                        <a:rPr lang="en-IN" sz="1400" dirty="0">
                          <a:effectLst/>
                        </a:rPr>
                        <a:t>Train</a:t>
                      </a:r>
                    </a:p>
                  </a:txBody>
                  <a:tcPr/>
                </a:tc>
                <a:tc>
                  <a:txBody>
                    <a:bodyPr/>
                    <a:lstStyle/>
                    <a:p>
                      <a:pPr fontAlgn="base"/>
                      <a:r>
                        <a:rPr lang="en-IN" sz="1400" dirty="0">
                          <a:effectLst/>
                        </a:rPr>
                        <a:t>1.00</a:t>
                      </a:r>
                    </a:p>
                  </a:txBody>
                  <a:tcPr/>
                </a:tc>
                <a:tc>
                  <a:txBody>
                    <a:bodyPr/>
                    <a:lstStyle/>
                    <a:p>
                      <a:pPr fontAlgn="base"/>
                      <a:r>
                        <a:rPr lang="en-IN" sz="1400" dirty="0">
                          <a:effectLst/>
                        </a:rPr>
                        <a:t>1.00</a:t>
                      </a:r>
                    </a:p>
                  </a:txBody>
                  <a:tcPr/>
                </a:tc>
                <a:tc>
                  <a:txBody>
                    <a:bodyPr/>
                    <a:lstStyle/>
                    <a:p>
                      <a:pPr fontAlgn="base"/>
                      <a:r>
                        <a:rPr lang="en-IN" sz="1400" dirty="0">
                          <a:effectLst/>
                        </a:rPr>
                        <a:t>1.00</a:t>
                      </a:r>
                    </a:p>
                  </a:txBody>
                  <a:tcPr/>
                </a:tc>
                <a:extLst>
                  <a:ext uri="{0D108BD9-81ED-4DB2-BD59-A6C34878D82A}">
                    <a16:rowId xmlns:a16="http://schemas.microsoft.com/office/drawing/2014/main" val="3315783827"/>
                  </a:ext>
                </a:extLst>
              </a:tr>
              <a:tr h="525192">
                <a:tc>
                  <a:txBody>
                    <a:bodyPr/>
                    <a:lstStyle/>
                    <a:p>
                      <a:pPr fontAlgn="base"/>
                      <a:r>
                        <a:rPr lang="en-IN" sz="1400">
                          <a:effectLst/>
                        </a:rPr>
                        <a:t>Random Forest</a:t>
                      </a:r>
                    </a:p>
                  </a:txBody>
                  <a:tcPr/>
                </a:tc>
                <a:tc>
                  <a:txBody>
                    <a:bodyPr/>
                    <a:lstStyle/>
                    <a:p>
                      <a:pPr fontAlgn="base"/>
                      <a:r>
                        <a:rPr lang="en-IN" sz="1400">
                          <a:effectLst/>
                        </a:rPr>
                        <a:t>Test</a:t>
                      </a:r>
                    </a:p>
                  </a:txBody>
                  <a:tcPr/>
                </a:tc>
                <a:tc>
                  <a:txBody>
                    <a:bodyPr/>
                    <a:lstStyle/>
                    <a:p>
                      <a:pPr fontAlgn="base"/>
                      <a:r>
                        <a:rPr lang="en-IN" sz="1400">
                          <a:effectLst/>
                        </a:rPr>
                        <a:t>0.99</a:t>
                      </a:r>
                    </a:p>
                  </a:txBody>
                  <a:tcPr/>
                </a:tc>
                <a:tc>
                  <a:txBody>
                    <a:bodyPr/>
                    <a:lstStyle/>
                    <a:p>
                      <a:pPr fontAlgn="base"/>
                      <a:r>
                        <a:rPr lang="en-IN" sz="1400">
                          <a:effectLst/>
                        </a:rPr>
                        <a:t>0.99</a:t>
                      </a:r>
                    </a:p>
                  </a:txBody>
                  <a:tcPr/>
                </a:tc>
                <a:tc>
                  <a:txBody>
                    <a:bodyPr/>
                    <a:lstStyle/>
                    <a:p>
                      <a:pPr fontAlgn="base"/>
                      <a:r>
                        <a:rPr lang="en-IN" sz="1400" dirty="0">
                          <a:effectLst/>
                        </a:rPr>
                        <a:t>0.99</a:t>
                      </a:r>
                    </a:p>
                  </a:txBody>
                  <a:tcPr/>
                </a:tc>
                <a:extLst>
                  <a:ext uri="{0D108BD9-81ED-4DB2-BD59-A6C34878D82A}">
                    <a16:rowId xmlns:a16="http://schemas.microsoft.com/office/drawing/2014/main" val="707436735"/>
                  </a:ext>
                </a:extLst>
              </a:tr>
              <a:tr h="525192">
                <a:tc>
                  <a:txBody>
                    <a:bodyPr/>
                    <a:lstStyle/>
                    <a:p>
                      <a:pPr fontAlgn="base"/>
                      <a:r>
                        <a:rPr lang="en-IN" sz="1400">
                          <a:effectLst/>
                        </a:rPr>
                        <a:t>Random Forest</a:t>
                      </a:r>
                    </a:p>
                  </a:txBody>
                  <a:tcPr/>
                </a:tc>
                <a:tc>
                  <a:txBody>
                    <a:bodyPr/>
                    <a:lstStyle/>
                    <a:p>
                      <a:pPr fontAlgn="base"/>
                      <a:r>
                        <a:rPr lang="en-IN" sz="1400">
                          <a:effectLst/>
                        </a:rPr>
                        <a:t>Train</a:t>
                      </a:r>
                    </a:p>
                  </a:txBody>
                  <a:tcPr/>
                </a:tc>
                <a:tc>
                  <a:txBody>
                    <a:bodyPr/>
                    <a:lstStyle/>
                    <a:p>
                      <a:pPr fontAlgn="base"/>
                      <a:r>
                        <a:rPr lang="en-IN" sz="1400" dirty="0">
                          <a:effectLst/>
                        </a:rPr>
                        <a:t>1.00</a:t>
                      </a:r>
                    </a:p>
                  </a:txBody>
                  <a:tcPr/>
                </a:tc>
                <a:tc>
                  <a:txBody>
                    <a:bodyPr/>
                    <a:lstStyle/>
                    <a:p>
                      <a:pPr fontAlgn="base"/>
                      <a:r>
                        <a:rPr lang="en-IN" sz="1400" dirty="0">
                          <a:effectLst/>
                        </a:rPr>
                        <a:t>1.00</a:t>
                      </a:r>
                    </a:p>
                  </a:txBody>
                  <a:tcPr/>
                </a:tc>
                <a:tc>
                  <a:txBody>
                    <a:bodyPr/>
                    <a:lstStyle/>
                    <a:p>
                      <a:pPr fontAlgn="base"/>
                      <a:r>
                        <a:rPr lang="en-IN" sz="1400" dirty="0">
                          <a:effectLst/>
                        </a:rPr>
                        <a:t>1.00</a:t>
                      </a:r>
                    </a:p>
                  </a:txBody>
                  <a:tcPr/>
                </a:tc>
                <a:extLst>
                  <a:ext uri="{0D108BD9-81ED-4DB2-BD59-A6C34878D82A}">
                    <a16:rowId xmlns:a16="http://schemas.microsoft.com/office/drawing/2014/main" val="2008827937"/>
                  </a:ext>
                </a:extLst>
              </a:tr>
            </a:tbl>
          </a:graphicData>
        </a:graphic>
      </p:graphicFrame>
      <p:sp>
        <p:nvSpPr>
          <p:cNvPr id="5" name="Footer Placeholder 4">
            <a:extLst>
              <a:ext uri="{FF2B5EF4-FFF2-40B4-BE49-F238E27FC236}">
                <a16:creationId xmlns:a16="http://schemas.microsoft.com/office/drawing/2014/main" id="{6D18E7F7-120D-E343-B41C-E8DF89FC0F49}"/>
              </a:ext>
            </a:extLst>
          </p:cNvPr>
          <p:cNvSpPr>
            <a:spLocks noGrp="1"/>
          </p:cNvSpPr>
          <p:nvPr>
            <p:ph type="ftr" sz="quarter" idx="28"/>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8EA25C86-7BE3-4BC6-C0B8-7F7D7C3EC286}"/>
              </a:ext>
            </a:extLst>
          </p:cNvPr>
          <p:cNvSpPr>
            <a:spLocks noGrp="1"/>
          </p:cNvSpPr>
          <p:nvPr>
            <p:ph type="sldNum" sz="quarter" idx="29"/>
          </p:nvPr>
        </p:nvSpPr>
        <p:spPr/>
        <p:txBody>
          <a:bodyPr/>
          <a:lstStyle/>
          <a:p>
            <a:fld id="{47FEACEE-25B4-4A2D-B147-27296E36371D}" type="slidenum">
              <a:rPr lang="en-US" altLang="zh-CN" smtClean="0"/>
              <a:pPr/>
              <a:t>8</a:t>
            </a:fld>
            <a:endParaRPr lang="en-US" altLang="zh-CN" dirty="0"/>
          </a:p>
        </p:txBody>
      </p:sp>
      <p:graphicFrame>
        <p:nvGraphicFramePr>
          <p:cNvPr id="2" name="Table 1">
            <a:extLst>
              <a:ext uri="{FF2B5EF4-FFF2-40B4-BE49-F238E27FC236}">
                <a16:creationId xmlns:a16="http://schemas.microsoft.com/office/drawing/2014/main" id="{0A83FD8A-4FFC-016E-EDD8-25E0C56FBE32}"/>
              </a:ext>
            </a:extLst>
          </p:cNvPr>
          <p:cNvGraphicFramePr>
            <a:graphicFrameLocks noGrp="1"/>
          </p:cNvGraphicFramePr>
          <p:nvPr>
            <p:extLst>
              <p:ext uri="{D42A27DB-BD31-4B8C-83A1-F6EECF244321}">
                <p14:modId xmlns:p14="http://schemas.microsoft.com/office/powerpoint/2010/main" val="2841895551"/>
              </p:ext>
            </p:extLst>
          </p:nvPr>
        </p:nvGraphicFramePr>
        <p:xfrm>
          <a:off x="8362462" y="1664677"/>
          <a:ext cx="3290296" cy="3149594"/>
        </p:xfrm>
        <a:graphic>
          <a:graphicData uri="http://schemas.openxmlformats.org/drawingml/2006/table">
            <a:tbl>
              <a:tblPr>
                <a:tableStyleId>{5C22544A-7EE6-4342-B048-85BDC9FD1C3A}</a:tableStyleId>
              </a:tblPr>
              <a:tblGrid>
                <a:gridCol w="822574">
                  <a:extLst>
                    <a:ext uri="{9D8B030D-6E8A-4147-A177-3AD203B41FA5}">
                      <a16:colId xmlns:a16="http://schemas.microsoft.com/office/drawing/2014/main" val="1370629437"/>
                    </a:ext>
                  </a:extLst>
                </a:gridCol>
                <a:gridCol w="822574">
                  <a:extLst>
                    <a:ext uri="{9D8B030D-6E8A-4147-A177-3AD203B41FA5}">
                      <a16:colId xmlns:a16="http://schemas.microsoft.com/office/drawing/2014/main" val="2540660379"/>
                    </a:ext>
                  </a:extLst>
                </a:gridCol>
                <a:gridCol w="822574">
                  <a:extLst>
                    <a:ext uri="{9D8B030D-6E8A-4147-A177-3AD203B41FA5}">
                      <a16:colId xmlns:a16="http://schemas.microsoft.com/office/drawing/2014/main" val="4147620467"/>
                    </a:ext>
                  </a:extLst>
                </a:gridCol>
                <a:gridCol w="822574">
                  <a:extLst>
                    <a:ext uri="{9D8B030D-6E8A-4147-A177-3AD203B41FA5}">
                      <a16:colId xmlns:a16="http://schemas.microsoft.com/office/drawing/2014/main" val="3946060902"/>
                    </a:ext>
                  </a:extLst>
                </a:gridCol>
              </a:tblGrid>
              <a:tr h="208253">
                <a:tc gridSpan="4">
                  <a:txBody>
                    <a:bodyPr/>
                    <a:lstStyle/>
                    <a:p>
                      <a:pPr algn="l" fontAlgn="b"/>
                      <a:r>
                        <a:rPr lang="en-IN" sz="1050" u="none" strike="noStrike" dirty="0">
                          <a:effectLst/>
                        </a:rPr>
                        <a:t>Neural Network Model (Post Bagging)</a:t>
                      </a:r>
                      <a:endParaRPr lang="en-IN" sz="1050" b="1" i="0" u="none" strike="noStrike" dirty="0">
                        <a:solidFill>
                          <a:srgbClr val="000000"/>
                        </a:solidFill>
                        <a:effectLst/>
                        <a:latin typeface="Arial" panose="020B0604020202020204" pitchFamily="34" charset="0"/>
                      </a:endParaRPr>
                    </a:p>
                  </a:txBody>
                  <a:tcPr marL="7620" marR="7620" marT="7620" marB="0" anchor="b"/>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434338141"/>
                  </a:ext>
                </a:extLst>
              </a:tr>
              <a:tr h="226257">
                <a:tc>
                  <a:txBody>
                    <a:bodyPr/>
                    <a:lstStyle/>
                    <a:p>
                      <a:pPr algn="l" fontAlgn="b"/>
                      <a:r>
                        <a:rPr lang="en-IN" sz="1200" u="none" strike="noStrike">
                          <a:effectLst/>
                        </a:rPr>
                        <a:t>Metric</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IN" sz="1200" u="none" strike="noStrike" dirty="0">
                          <a:effectLst/>
                        </a:rPr>
                        <a:t>Class 0</a:t>
                      </a:r>
                      <a:endParaRPr lang="en-IN" sz="12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r>
                        <a:rPr lang="en-IN" sz="1200" u="none" strike="noStrike">
                          <a:effectLst/>
                        </a:rPr>
                        <a:t>Class 1</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r>
                        <a:rPr lang="en-IN" sz="1200" u="none" strike="noStrike">
                          <a:effectLst/>
                        </a:rPr>
                        <a:t>Accuracy</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739892299"/>
                  </a:ext>
                </a:extLst>
              </a:tr>
              <a:tr h="226257">
                <a:tc gridSpan="2">
                  <a:txBody>
                    <a:bodyPr/>
                    <a:lstStyle/>
                    <a:p>
                      <a:pPr algn="l" fontAlgn="b"/>
                      <a:r>
                        <a:rPr lang="en-IN" sz="1200" u="none" strike="noStrike">
                          <a:effectLst/>
                        </a:rPr>
                        <a:t>Training Set</a:t>
                      </a:r>
                      <a:endParaRPr lang="en-IN" sz="1200" b="0" i="0" u="none" strike="noStrike">
                        <a:solidFill>
                          <a:srgbClr val="000000"/>
                        </a:solidFill>
                        <a:effectLst/>
                        <a:latin typeface="Aptos Narrow" panose="020B0004020202020204" pitchFamily="34" charset="0"/>
                      </a:endParaRPr>
                    </a:p>
                  </a:txBody>
                  <a:tcPr marL="7620" marR="7620" marT="7620" marB="0" anchor="b"/>
                </a:tc>
                <a:tc hMerge="1">
                  <a:txBody>
                    <a:bodyPr/>
                    <a:lstStyle/>
                    <a:p>
                      <a:endParaRPr lang="en-IN"/>
                    </a:p>
                  </a:txBody>
                  <a:tcPr/>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720640364"/>
                  </a:ext>
                </a:extLst>
              </a:tr>
              <a:tr h="226257">
                <a:tc>
                  <a:txBody>
                    <a:bodyPr/>
                    <a:lstStyle/>
                    <a:p>
                      <a:pPr algn="l" fontAlgn="b"/>
                      <a:r>
                        <a:rPr lang="en-IN" sz="1200" u="none" strike="noStrike">
                          <a:effectLst/>
                        </a:rPr>
                        <a:t>Precision</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dirty="0">
                          <a:effectLst/>
                        </a:rPr>
                        <a:t>1</a:t>
                      </a:r>
                      <a:endParaRPr lang="en-IN" sz="12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352653212"/>
                  </a:ext>
                </a:extLst>
              </a:tr>
              <a:tr h="226257">
                <a:tc>
                  <a:txBody>
                    <a:bodyPr/>
                    <a:lstStyle/>
                    <a:p>
                      <a:pPr algn="l" fontAlgn="b"/>
                      <a:r>
                        <a:rPr lang="en-IN" sz="1200" u="none" strike="noStrike">
                          <a:effectLst/>
                        </a:rPr>
                        <a:t>Recall</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dirty="0">
                          <a:effectLst/>
                        </a:rPr>
                        <a:t>1</a:t>
                      </a:r>
                      <a:endParaRPr lang="en-IN" sz="12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149852872"/>
                  </a:ext>
                </a:extLst>
              </a:tr>
              <a:tr h="226257">
                <a:tc>
                  <a:txBody>
                    <a:bodyPr/>
                    <a:lstStyle/>
                    <a:p>
                      <a:pPr algn="l" fontAlgn="b"/>
                      <a:r>
                        <a:rPr lang="en-IN" sz="1200" u="none" strike="noStrike">
                          <a:effectLst/>
                        </a:rPr>
                        <a:t>F1-score</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347016469"/>
                  </a:ext>
                </a:extLst>
              </a:tr>
              <a:tr h="226257">
                <a:tc>
                  <a:txBody>
                    <a:bodyPr/>
                    <a:lstStyle/>
                    <a:p>
                      <a:pPr algn="l" fontAlgn="b"/>
                      <a:r>
                        <a:rPr lang="en-IN" sz="1200" u="none" strike="noStrike">
                          <a:effectLst/>
                        </a:rPr>
                        <a:t>Support</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327</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1675</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2002</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352067236"/>
                  </a:ext>
                </a:extLst>
              </a:tr>
              <a:tr h="226257">
                <a:tc gridSpan="2">
                  <a:txBody>
                    <a:bodyPr/>
                    <a:lstStyle/>
                    <a:p>
                      <a:pPr algn="l" fontAlgn="b"/>
                      <a:r>
                        <a:rPr lang="en-IN" sz="1200" u="none" strike="noStrike">
                          <a:effectLst/>
                        </a:rPr>
                        <a:t>Testing Set</a:t>
                      </a:r>
                      <a:endParaRPr lang="en-IN" sz="1200" b="0" i="0" u="none" strike="noStrike">
                        <a:solidFill>
                          <a:srgbClr val="000000"/>
                        </a:solidFill>
                        <a:effectLst/>
                        <a:latin typeface="Aptos Narrow" panose="020B0004020202020204" pitchFamily="34" charset="0"/>
                      </a:endParaRPr>
                    </a:p>
                  </a:txBody>
                  <a:tcPr marL="7620" marR="7620" marT="7620" marB="0" anchor="b"/>
                </a:tc>
                <a:tc hMerge="1">
                  <a:txBody>
                    <a:bodyPr/>
                    <a:lstStyle/>
                    <a:p>
                      <a:endParaRPr lang="en-IN"/>
                    </a:p>
                  </a:txBody>
                  <a:tcPr/>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183237"/>
                  </a:ext>
                </a:extLst>
              </a:tr>
              <a:tr h="226257">
                <a:tc>
                  <a:txBody>
                    <a:bodyPr/>
                    <a:lstStyle/>
                    <a:p>
                      <a:pPr algn="l" fontAlgn="b"/>
                      <a:r>
                        <a:rPr lang="en-IN" sz="1200" u="none" strike="noStrike">
                          <a:effectLst/>
                        </a:rPr>
                        <a:t>Precision</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0.86</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0.95</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0.94</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949554743"/>
                  </a:ext>
                </a:extLst>
              </a:tr>
              <a:tr h="226257">
                <a:tc>
                  <a:txBody>
                    <a:bodyPr/>
                    <a:lstStyle/>
                    <a:p>
                      <a:pPr algn="l" fontAlgn="b"/>
                      <a:r>
                        <a:rPr lang="en-IN" sz="1200" u="none" strike="noStrike">
                          <a:effectLst/>
                        </a:rPr>
                        <a:t>Recall</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0.75</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0.97</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0.94</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828848418"/>
                  </a:ext>
                </a:extLst>
              </a:tr>
              <a:tr h="226257">
                <a:tc>
                  <a:txBody>
                    <a:bodyPr/>
                    <a:lstStyle/>
                    <a:p>
                      <a:pPr algn="l" fontAlgn="b"/>
                      <a:r>
                        <a:rPr lang="en-IN" sz="1200" u="none" strike="noStrike">
                          <a:effectLst/>
                        </a:rPr>
                        <a:t>F1-score</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0.8</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0.96</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0.94</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86897575"/>
                  </a:ext>
                </a:extLst>
              </a:tr>
              <a:tr h="226257">
                <a:tc>
                  <a:txBody>
                    <a:bodyPr/>
                    <a:lstStyle/>
                    <a:p>
                      <a:pPr algn="l" fontAlgn="b"/>
                      <a:r>
                        <a:rPr lang="en-IN" sz="1200" u="none" strike="noStrike">
                          <a:effectLst/>
                        </a:rPr>
                        <a:t>Support</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143</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715</a:t>
                      </a:r>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r>
                        <a:rPr lang="en-IN" sz="1200" u="none" strike="noStrike">
                          <a:effectLst/>
                        </a:rPr>
                        <a:t>858</a:t>
                      </a:r>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995414022"/>
                  </a:ext>
                </a:extLst>
              </a:tr>
              <a:tr h="226257">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691933070"/>
                  </a:ext>
                </a:extLst>
              </a:tr>
              <a:tr h="226257">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endParaRPr lang="en-IN" sz="12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380487718"/>
                  </a:ext>
                </a:extLst>
              </a:tr>
            </a:tbl>
          </a:graphicData>
        </a:graphic>
      </p:graphicFrame>
      <p:graphicFrame>
        <p:nvGraphicFramePr>
          <p:cNvPr id="9" name="Table 8">
            <a:extLst>
              <a:ext uri="{FF2B5EF4-FFF2-40B4-BE49-F238E27FC236}">
                <a16:creationId xmlns:a16="http://schemas.microsoft.com/office/drawing/2014/main" id="{3B609A5D-BA86-0CB7-EEA9-803241E306C6}"/>
              </a:ext>
            </a:extLst>
          </p:cNvPr>
          <p:cNvGraphicFramePr>
            <a:graphicFrameLocks noGrp="1"/>
          </p:cNvGraphicFramePr>
          <p:nvPr>
            <p:extLst>
              <p:ext uri="{D42A27DB-BD31-4B8C-83A1-F6EECF244321}">
                <p14:modId xmlns:p14="http://schemas.microsoft.com/office/powerpoint/2010/main" val="1686819543"/>
              </p:ext>
            </p:extLst>
          </p:nvPr>
        </p:nvGraphicFramePr>
        <p:xfrm>
          <a:off x="3632200" y="4900244"/>
          <a:ext cx="4927600" cy="1868544"/>
        </p:xfrm>
        <a:graphic>
          <a:graphicData uri="http://schemas.openxmlformats.org/drawingml/2006/table">
            <a:tbl>
              <a:tblPr>
                <a:tableStyleId>{ED083AE6-46FA-4A59-8FB0-9F97EB10719F}</a:tableStyleId>
              </a:tblPr>
              <a:tblGrid>
                <a:gridCol w="685800">
                  <a:extLst>
                    <a:ext uri="{9D8B030D-6E8A-4147-A177-3AD203B41FA5}">
                      <a16:colId xmlns:a16="http://schemas.microsoft.com/office/drawing/2014/main" val="2522949449"/>
                    </a:ext>
                  </a:extLst>
                </a:gridCol>
                <a:gridCol w="812800">
                  <a:extLst>
                    <a:ext uri="{9D8B030D-6E8A-4147-A177-3AD203B41FA5}">
                      <a16:colId xmlns:a16="http://schemas.microsoft.com/office/drawing/2014/main" val="2793784994"/>
                    </a:ext>
                  </a:extLst>
                </a:gridCol>
                <a:gridCol w="685800">
                  <a:extLst>
                    <a:ext uri="{9D8B030D-6E8A-4147-A177-3AD203B41FA5}">
                      <a16:colId xmlns:a16="http://schemas.microsoft.com/office/drawing/2014/main" val="2129185838"/>
                    </a:ext>
                  </a:extLst>
                </a:gridCol>
                <a:gridCol w="685800">
                  <a:extLst>
                    <a:ext uri="{9D8B030D-6E8A-4147-A177-3AD203B41FA5}">
                      <a16:colId xmlns:a16="http://schemas.microsoft.com/office/drawing/2014/main" val="3696522640"/>
                    </a:ext>
                  </a:extLst>
                </a:gridCol>
                <a:gridCol w="685800">
                  <a:extLst>
                    <a:ext uri="{9D8B030D-6E8A-4147-A177-3AD203B41FA5}">
                      <a16:colId xmlns:a16="http://schemas.microsoft.com/office/drawing/2014/main" val="778786211"/>
                    </a:ext>
                  </a:extLst>
                </a:gridCol>
                <a:gridCol w="685800">
                  <a:extLst>
                    <a:ext uri="{9D8B030D-6E8A-4147-A177-3AD203B41FA5}">
                      <a16:colId xmlns:a16="http://schemas.microsoft.com/office/drawing/2014/main" val="131215014"/>
                    </a:ext>
                  </a:extLst>
                </a:gridCol>
                <a:gridCol w="685800">
                  <a:extLst>
                    <a:ext uri="{9D8B030D-6E8A-4147-A177-3AD203B41FA5}">
                      <a16:colId xmlns:a16="http://schemas.microsoft.com/office/drawing/2014/main" val="2778825756"/>
                    </a:ext>
                  </a:extLst>
                </a:gridCol>
              </a:tblGrid>
              <a:tr h="690411">
                <a:tc>
                  <a:txBody>
                    <a:bodyPr/>
                    <a:lstStyle/>
                    <a:p>
                      <a:pPr algn="l" fontAlgn="b"/>
                      <a:r>
                        <a:rPr lang="en-IN" sz="1200" b="0" u="none" strike="noStrike">
                          <a:solidFill>
                            <a:srgbClr val="000000"/>
                          </a:solidFill>
                          <a:effectLst/>
                        </a:rPr>
                        <a:t>Metric</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Class 0 (Pre-SMOTE)</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Class 1 (Pre-SMOTE)</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dirty="0">
                          <a:solidFill>
                            <a:srgbClr val="000000"/>
                          </a:solidFill>
                          <a:effectLst/>
                        </a:rPr>
                        <a:t>Weighted </a:t>
                      </a:r>
                      <a:r>
                        <a:rPr lang="en-IN" sz="1200" b="0" u="none" strike="noStrike" dirty="0" err="1">
                          <a:solidFill>
                            <a:srgbClr val="000000"/>
                          </a:solidFill>
                          <a:effectLst/>
                        </a:rPr>
                        <a:t>Avg</a:t>
                      </a:r>
                      <a:r>
                        <a:rPr lang="en-IN" sz="1200" b="0" u="none" strike="noStrike" dirty="0">
                          <a:solidFill>
                            <a:srgbClr val="000000"/>
                          </a:solidFill>
                          <a:effectLst/>
                        </a:rPr>
                        <a:t> (Pre-SMOTE)</a:t>
                      </a:r>
                      <a:endParaRPr lang="en-IN" sz="1200" b="0" i="0" u="none" strike="noStrike" dirty="0">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Class 0 (Post-SMOTE)</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Class 1 (Post-SMOTE)</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Weighted Avg (Post-SMOTE)</a:t>
                      </a:r>
                      <a:endParaRPr lang="en-IN" sz="1200" b="0" i="0" u="none" strike="noStrike">
                        <a:solidFill>
                          <a:srgbClr val="000000"/>
                        </a:solidFill>
                        <a:effectLst/>
                        <a:latin typeface="Calibri" panose="020F0502020204030204" pitchFamily="34" charset="0"/>
                      </a:endParaRPr>
                    </a:p>
                  </a:txBody>
                  <a:tcPr marL="7620" marR="7620" marT="7620" anchor="b"/>
                </a:tc>
                <a:extLst>
                  <a:ext uri="{0D108BD9-81ED-4DB2-BD59-A6C34878D82A}">
                    <a16:rowId xmlns:a16="http://schemas.microsoft.com/office/drawing/2014/main" val="1929752831"/>
                  </a:ext>
                </a:extLst>
              </a:tr>
              <a:tr h="270921">
                <a:tc>
                  <a:txBody>
                    <a:bodyPr/>
                    <a:lstStyle/>
                    <a:p>
                      <a:pPr algn="l" fontAlgn="b"/>
                      <a:r>
                        <a:rPr lang="en-IN" sz="1200" b="0" u="none" strike="noStrike">
                          <a:solidFill>
                            <a:srgbClr val="000000"/>
                          </a:solidFill>
                          <a:effectLst/>
                        </a:rPr>
                        <a:t>Precision</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0.65</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0.87</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0.83</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0.76</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0.77</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0.76</a:t>
                      </a:r>
                      <a:endParaRPr lang="en-IN" sz="1200" b="0" i="0" u="none" strike="noStrike">
                        <a:solidFill>
                          <a:srgbClr val="000000"/>
                        </a:solidFill>
                        <a:effectLst/>
                        <a:latin typeface="Calibri" panose="020F0502020204030204" pitchFamily="34" charset="0"/>
                      </a:endParaRPr>
                    </a:p>
                  </a:txBody>
                  <a:tcPr marL="7620" marR="7620" marT="7620" anchor="b"/>
                </a:tc>
                <a:extLst>
                  <a:ext uri="{0D108BD9-81ED-4DB2-BD59-A6C34878D82A}">
                    <a16:rowId xmlns:a16="http://schemas.microsoft.com/office/drawing/2014/main" val="592469674"/>
                  </a:ext>
                </a:extLst>
              </a:tr>
              <a:tr h="270921">
                <a:tc>
                  <a:txBody>
                    <a:bodyPr/>
                    <a:lstStyle/>
                    <a:p>
                      <a:pPr algn="l" fontAlgn="b"/>
                      <a:r>
                        <a:rPr lang="en-IN" sz="1200" b="0" u="none" strike="noStrike">
                          <a:solidFill>
                            <a:srgbClr val="000000"/>
                          </a:solidFill>
                          <a:effectLst/>
                        </a:rPr>
                        <a:t>Recall</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0.25</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dirty="0">
                          <a:solidFill>
                            <a:srgbClr val="000000"/>
                          </a:solidFill>
                          <a:effectLst/>
                        </a:rPr>
                        <a:t>0.97</a:t>
                      </a:r>
                      <a:endParaRPr lang="en-IN" sz="1200" b="0" i="0" u="none" strike="noStrike" dirty="0">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0.86</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0.77</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0.76</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0.76</a:t>
                      </a:r>
                      <a:endParaRPr lang="en-IN" sz="1200" b="0" i="0" u="none" strike="noStrike">
                        <a:solidFill>
                          <a:srgbClr val="000000"/>
                        </a:solidFill>
                        <a:effectLst/>
                        <a:latin typeface="Calibri" panose="020F0502020204030204" pitchFamily="34" charset="0"/>
                      </a:endParaRPr>
                    </a:p>
                  </a:txBody>
                  <a:tcPr marL="7620" marR="7620" marT="7620" anchor="b"/>
                </a:tc>
                <a:extLst>
                  <a:ext uri="{0D108BD9-81ED-4DB2-BD59-A6C34878D82A}">
                    <a16:rowId xmlns:a16="http://schemas.microsoft.com/office/drawing/2014/main" val="1033081199"/>
                  </a:ext>
                </a:extLst>
              </a:tr>
              <a:tr h="270921">
                <a:tc>
                  <a:txBody>
                    <a:bodyPr/>
                    <a:lstStyle/>
                    <a:p>
                      <a:pPr algn="l" fontAlgn="b"/>
                      <a:r>
                        <a:rPr lang="en-IN" sz="1200" b="0" u="none" strike="noStrike">
                          <a:solidFill>
                            <a:srgbClr val="000000"/>
                          </a:solidFill>
                          <a:effectLst/>
                        </a:rPr>
                        <a:t>F1-Score</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0.36</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0.92</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0.83</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0.77</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0.76</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0.76</a:t>
                      </a:r>
                      <a:endParaRPr lang="en-IN" sz="1200" b="0" i="0" u="none" strike="noStrike">
                        <a:solidFill>
                          <a:srgbClr val="000000"/>
                        </a:solidFill>
                        <a:effectLst/>
                        <a:latin typeface="Calibri" panose="020F0502020204030204" pitchFamily="34" charset="0"/>
                      </a:endParaRPr>
                    </a:p>
                  </a:txBody>
                  <a:tcPr marL="7620" marR="7620" marT="7620" anchor="b"/>
                </a:tc>
                <a:extLst>
                  <a:ext uri="{0D108BD9-81ED-4DB2-BD59-A6C34878D82A}">
                    <a16:rowId xmlns:a16="http://schemas.microsoft.com/office/drawing/2014/main" val="351308650"/>
                  </a:ext>
                </a:extLst>
              </a:tr>
              <a:tr h="270921">
                <a:tc>
                  <a:txBody>
                    <a:bodyPr/>
                    <a:lstStyle/>
                    <a:p>
                      <a:pPr algn="l" fontAlgn="b"/>
                      <a:r>
                        <a:rPr lang="en-IN" sz="1200" b="0" u="none" strike="noStrike">
                          <a:solidFill>
                            <a:srgbClr val="000000"/>
                          </a:solidFill>
                          <a:effectLst/>
                        </a:rPr>
                        <a:t>Accuracy</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0.86</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a:solidFill>
                            <a:srgbClr val="000000"/>
                          </a:solidFill>
                          <a:effectLst/>
                        </a:rPr>
                        <a:t>-</a:t>
                      </a:r>
                      <a:endParaRPr lang="en-IN" sz="1200" b="0" i="0" u="none" strike="noStrike">
                        <a:solidFill>
                          <a:srgbClr val="000000"/>
                        </a:solidFill>
                        <a:effectLst/>
                        <a:latin typeface="Calibri" panose="020F0502020204030204" pitchFamily="34" charset="0"/>
                      </a:endParaRPr>
                    </a:p>
                  </a:txBody>
                  <a:tcPr marL="7620" marR="7620" marT="7620" anchor="b"/>
                </a:tc>
                <a:tc>
                  <a:txBody>
                    <a:bodyPr/>
                    <a:lstStyle/>
                    <a:p>
                      <a:pPr algn="l" fontAlgn="b"/>
                      <a:r>
                        <a:rPr lang="en-IN" sz="1200" b="0" u="none" strike="noStrike" dirty="0">
                          <a:solidFill>
                            <a:srgbClr val="000000"/>
                          </a:solidFill>
                          <a:effectLst/>
                        </a:rPr>
                        <a:t>0.76</a:t>
                      </a:r>
                      <a:endParaRPr lang="en-IN" sz="1200" b="0" i="0" u="none" strike="noStrike" dirty="0">
                        <a:solidFill>
                          <a:srgbClr val="000000"/>
                        </a:solidFill>
                        <a:effectLst/>
                        <a:latin typeface="Calibri" panose="020F0502020204030204" pitchFamily="34" charset="0"/>
                      </a:endParaRPr>
                    </a:p>
                  </a:txBody>
                  <a:tcPr marL="7620" marR="7620" marT="7620" anchor="b"/>
                </a:tc>
                <a:extLst>
                  <a:ext uri="{0D108BD9-81ED-4DB2-BD59-A6C34878D82A}">
                    <a16:rowId xmlns:a16="http://schemas.microsoft.com/office/drawing/2014/main" val="1629743738"/>
                  </a:ext>
                </a:extLst>
              </a:tr>
            </a:tbl>
          </a:graphicData>
        </a:graphic>
      </p:graphicFrame>
      <p:sp>
        <p:nvSpPr>
          <p:cNvPr id="11" name="TextBox 10">
            <a:extLst>
              <a:ext uri="{FF2B5EF4-FFF2-40B4-BE49-F238E27FC236}">
                <a16:creationId xmlns:a16="http://schemas.microsoft.com/office/drawing/2014/main" id="{06471692-C8D4-ABCA-BD26-BC32083806B6}"/>
              </a:ext>
            </a:extLst>
          </p:cNvPr>
          <p:cNvSpPr txBox="1"/>
          <p:nvPr/>
        </p:nvSpPr>
        <p:spPr>
          <a:xfrm>
            <a:off x="5126892" y="3868616"/>
            <a:ext cx="2547816" cy="646331"/>
          </a:xfrm>
          <a:prstGeom prst="rect">
            <a:avLst/>
          </a:prstGeom>
        </p:spPr>
        <p:txBody>
          <a:bodyPr wrap="square" rtlCol="0">
            <a:spAutoFit/>
          </a:bodyPr>
          <a:lstStyle/>
          <a:p>
            <a:pPr marL="0" indent="0" algn="ctr">
              <a:lnSpc>
                <a:spcPct val="100000"/>
              </a:lnSpc>
              <a:spcBef>
                <a:spcPts val="0"/>
              </a:spcBef>
              <a:buFontTx/>
              <a:buNone/>
            </a:pPr>
            <a:r>
              <a:rPr lang="en-US" sz="1800" dirty="0">
                <a:latin typeface="Posterama" panose="020B0504020200020000" pitchFamily="34" charset="0"/>
                <a:ea typeface="微软雅黑"/>
                <a:cs typeface="Posterama" panose="020B0504020200020000" pitchFamily="34" charset="0"/>
              </a:rPr>
              <a:t>LDA model performance</a:t>
            </a:r>
            <a:endParaRPr lang="en-IN" sz="1800" dirty="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246021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C635D-FE81-17CC-7500-CBF43595D9BB}"/>
              </a:ext>
            </a:extLst>
          </p:cNvPr>
          <p:cNvSpPr>
            <a:spLocks noGrp="1"/>
          </p:cNvSpPr>
          <p:nvPr>
            <p:ph type="title"/>
          </p:nvPr>
        </p:nvSpPr>
        <p:spPr/>
        <p:txBody>
          <a:bodyPr/>
          <a:lstStyle/>
          <a:p>
            <a:r>
              <a:rPr lang="en-US" dirty="0"/>
              <a:t>Best Fit Model</a:t>
            </a:r>
            <a:endParaRPr lang="en-IN" dirty="0"/>
          </a:p>
        </p:txBody>
      </p:sp>
      <p:sp>
        <p:nvSpPr>
          <p:cNvPr id="3" name="Table Placeholder 2">
            <a:extLst>
              <a:ext uri="{FF2B5EF4-FFF2-40B4-BE49-F238E27FC236}">
                <a16:creationId xmlns:a16="http://schemas.microsoft.com/office/drawing/2014/main" id="{4E4C4C72-94D0-CC39-0E44-A469E4EC667E}"/>
              </a:ext>
            </a:extLst>
          </p:cNvPr>
          <p:cNvSpPr>
            <a:spLocks noGrp="1"/>
          </p:cNvSpPr>
          <p:nvPr>
            <p:ph type="tbl" sz="quarter" idx="27"/>
          </p:nvPr>
        </p:nvSpPr>
        <p:spPr/>
        <p:txBody>
          <a:bodyPr/>
          <a:lstStyle/>
          <a:p>
            <a:r>
              <a:rPr lang="en-US" dirty="0"/>
              <a:t>As per our extensive analysis we recommend Random Forest model as the best one for our purpose</a:t>
            </a:r>
          </a:p>
          <a:p>
            <a:pPr marL="0" indent="0">
              <a:buNone/>
            </a:pPr>
            <a:r>
              <a:rPr lang="en-US" dirty="0"/>
              <a:t>Why Random Forest</a:t>
            </a:r>
          </a:p>
          <a:p>
            <a:r>
              <a:rPr lang="en-US" sz="1600" dirty="0"/>
              <a:t>Consistency: Random Forest performs well on both the train and test sets, with high precision, recall, and F1-score values for both classes (0 and 1).</a:t>
            </a:r>
          </a:p>
          <a:p>
            <a:r>
              <a:rPr lang="en-US" sz="1600" dirty="0"/>
              <a:t>High Accuracy: Random Forest achieves the highest accuracy on both the train (1.00) and test (0.95) sets, indicating that it is able to correctly predict the outcome of cricket matches.</a:t>
            </a:r>
          </a:p>
          <a:p>
            <a:r>
              <a:rPr lang="en-US" sz="1600" dirty="0"/>
              <a:t>Balanced Performance: Random Forest shows balanced performance on both classes, with high precision and recall values for both win (class 1) and loss (class 0) predictions.</a:t>
            </a:r>
          </a:p>
          <a:p>
            <a:r>
              <a:rPr lang="en-US" sz="1600" dirty="0"/>
              <a:t>Robustness: Random Forest is a robust model that is less prone to overfitting, which is evident from its consistent performance on both the train and test sets.</a:t>
            </a:r>
          </a:p>
          <a:p>
            <a:pPr marL="0" indent="0">
              <a:buNone/>
            </a:pPr>
            <a:endParaRPr lang="en-US" dirty="0"/>
          </a:p>
        </p:txBody>
      </p:sp>
      <p:sp>
        <p:nvSpPr>
          <p:cNvPr id="4" name="Footer Placeholder 3">
            <a:extLst>
              <a:ext uri="{FF2B5EF4-FFF2-40B4-BE49-F238E27FC236}">
                <a16:creationId xmlns:a16="http://schemas.microsoft.com/office/drawing/2014/main" id="{6190FEB9-E3C7-069E-7E76-7B62C116201C}"/>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7FEB955-15C2-4CDF-C01A-D9C3DF4E39BF}"/>
              </a:ext>
            </a:extLst>
          </p:cNvPr>
          <p:cNvSpPr>
            <a:spLocks noGrp="1"/>
          </p:cNvSpPr>
          <p:nvPr>
            <p:ph type="sldNum" sz="quarter" idx="29"/>
          </p:nvPr>
        </p:nvSpPr>
        <p:spPr/>
        <p:txBody>
          <a:bodyPr/>
          <a:lstStyle/>
          <a:p>
            <a:fld id="{47FEACEE-25B4-4A2D-B147-27296E36371D}" type="slidenum">
              <a:rPr lang="en-US" altLang="zh-CN" smtClean="0"/>
              <a:pPr/>
              <a:t>9</a:t>
            </a:fld>
            <a:endParaRPr lang="en-US" altLang="zh-CN" dirty="0"/>
          </a:p>
        </p:txBody>
      </p:sp>
    </p:spTree>
    <p:extLst>
      <p:ext uri="{BB962C8B-B14F-4D97-AF65-F5344CB8AC3E}">
        <p14:creationId xmlns:p14="http://schemas.microsoft.com/office/powerpoint/2010/main" val="3030935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2101C-514C-2779-80BE-880F2E4FD57D}"/>
              </a:ext>
            </a:extLst>
          </p:cNvPr>
          <p:cNvSpPr>
            <a:spLocks noGrp="1"/>
          </p:cNvSpPr>
          <p:nvPr>
            <p:ph type="title"/>
          </p:nvPr>
        </p:nvSpPr>
        <p:spPr>
          <a:xfrm>
            <a:off x="581709" y="62524"/>
            <a:ext cx="10889796" cy="812712"/>
          </a:xfrm>
        </p:spPr>
        <p:txBody>
          <a:bodyPr/>
          <a:lstStyle/>
          <a:p>
            <a:r>
              <a:rPr lang="en-US" dirty="0"/>
              <a:t>Model comparison</a:t>
            </a:r>
            <a:endParaRPr lang="en-IN" dirty="0"/>
          </a:p>
        </p:txBody>
      </p:sp>
      <p:sp>
        <p:nvSpPr>
          <p:cNvPr id="3" name="Table Placeholder 2">
            <a:extLst>
              <a:ext uri="{FF2B5EF4-FFF2-40B4-BE49-F238E27FC236}">
                <a16:creationId xmlns:a16="http://schemas.microsoft.com/office/drawing/2014/main" id="{7B25992B-86B3-7B1B-3C79-B4CE9B01ABA8}"/>
              </a:ext>
            </a:extLst>
          </p:cNvPr>
          <p:cNvSpPr>
            <a:spLocks noGrp="1"/>
          </p:cNvSpPr>
          <p:nvPr>
            <p:ph type="tbl" sz="quarter" idx="27"/>
          </p:nvPr>
        </p:nvSpPr>
        <p:spPr/>
        <p:txBody>
          <a:bodyPr/>
          <a:lstStyle/>
          <a:p>
            <a:endParaRPr lang="en-IN"/>
          </a:p>
        </p:txBody>
      </p:sp>
      <p:sp>
        <p:nvSpPr>
          <p:cNvPr id="4" name="Footer Placeholder 3">
            <a:extLst>
              <a:ext uri="{FF2B5EF4-FFF2-40B4-BE49-F238E27FC236}">
                <a16:creationId xmlns:a16="http://schemas.microsoft.com/office/drawing/2014/main" id="{27376B8C-0DB8-4CA3-62C5-4A9249B1C028}"/>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5CBAB1C-46BA-40E3-A2CA-40CB7C1533F9}"/>
              </a:ext>
            </a:extLst>
          </p:cNvPr>
          <p:cNvSpPr>
            <a:spLocks noGrp="1"/>
          </p:cNvSpPr>
          <p:nvPr>
            <p:ph type="sldNum" sz="quarter" idx="29"/>
          </p:nvPr>
        </p:nvSpPr>
        <p:spPr/>
        <p:txBody>
          <a:bodyPr/>
          <a:lstStyle/>
          <a:p>
            <a:fld id="{47FEACEE-25B4-4A2D-B147-27296E36371D}" type="slidenum">
              <a:rPr lang="en-US" altLang="zh-CN" smtClean="0"/>
              <a:pPr/>
              <a:t>10</a:t>
            </a:fld>
            <a:endParaRPr lang="en-US" altLang="zh-CN" dirty="0"/>
          </a:p>
        </p:txBody>
      </p:sp>
      <p:pic>
        <p:nvPicPr>
          <p:cNvPr id="7" name="Picture 6">
            <a:extLst>
              <a:ext uri="{FF2B5EF4-FFF2-40B4-BE49-F238E27FC236}">
                <a16:creationId xmlns:a16="http://schemas.microsoft.com/office/drawing/2014/main" id="{96E6D9A6-7E63-50EE-5B52-02680C07E23F}"/>
              </a:ext>
            </a:extLst>
          </p:cNvPr>
          <p:cNvPicPr>
            <a:picLocks noChangeAspect="1"/>
          </p:cNvPicPr>
          <p:nvPr/>
        </p:nvPicPr>
        <p:blipFill>
          <a:blip r:embed="rId2"/>
          <a:stretch>
            <a:fillRect/>
          </a:stretch>
        </p:blipFill>
        <p:spPr>
          <a:xfrm>
            <a:off x="247143" y="734647"/>
            <a:ext cx="8099688" cy="2993291"/>
          </a:xfrm>
          <a:prstGeom prst="rect">
            <a:avLst/>
          </a:prstGeom>
        </p:spPr>
      </p:pic>
      <p:pic>
        <p:nvPicPr>
          <p:cNvPr id="9" name="Picture 8">
            <a:extLst>
              <a:ext uri="{FF2B5EF4-FFF2-40B4-BE49-F238E27FC236}">
                <a16:creationId xmlns:a16="http://schemas.microsoft.com/office/drawing/2014/main" id="{C91F10D2-44C2-57EA-60A3-2A220A1BBD5D}"/>
              </a:ext>
            </a:extLst>
          </p:cNvPr>
          <p:cNvPicPr>
            <a:picLocks noChangeAspect="1"/>
          </p:cNvPicPr>
          <p:nvPr/>
        </p:nvPicPr>
        <p:blipFill>
          <a:blip r:embed="rId3"/>
          <a:stretch>
            <a:fillRect/>
          </a:stretch>
        </p:blipFill>
        <p:spPr>
          <a:xfrm>
            <a:off x="3548185" y="3673230"/>
            <a:ext cx="8347137" cy="2997785"/>
          </a:xfrm>
          <a:prstGeom prst="rect">
            <a:avLst/>
          </a:prstGeom>
        </p:spPr>
      </p:pic>
    </p:spTree>
    <p:extLst>
      <p:ext uri="{BB962C8B-B14F-4D97-AF65-F5344CB8AC3E}">
        <p14:creationId xmlns:p14="http://schemas.microsoft.com/office/powerpoint/2010/main" val="389765340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265722" y="242277"/>
            <a:ext cx="2883877" cy="1242646"/>
          </a:xfrm>
        </p:spPr>
        <p:txBody>
          <a:bodyPr/>
          <a:lstStyle/>
          <a:p>
            <a:r>
              <a:rPr lang="en-US" b="0" i="1" u="sng" dirty="0"/>
              <a:t>Insights &amp; Recommendations</a:t>
            </a:r>
          </a:p>
        </p:txBody>
      </p:sp>
      <p:graphicFrame>
        <p:nvGraphicFramePr>
          <p:cNvPr id="3" name="Diagram 2">
            <a:extLst>
              <a:ext uri="{FF2B5EF4-FFF2-40B4-BE49-F238E27FC236}">
                <a16:creationId xmlns:a16="http://schemas.microsoft.com/office/drawing/2014/main" id="{FC41F277-9093-F38E-239C-01FE64BECCA2}"/>
              </a:ext>
            </a:extLst>
          </p:cNvPr>
          <p:cNvGraphicFramePr/>
          <p:nvPr>
            <p:extLst>
              <p:ext uri="{D42A27DB-BD31-4B8C-83A1-F6EECF244321}">
                <p14:modId xmlns:p14="http://schemas.microsoft.com/office/powerpoint/2010/main" val="3676388073"/>
              </p:ext>
            </p:extLst>
          </p:nvPr>
        </p:nvGraphicFramePr>
        <p:xfrm>
          <a:off x="3938955" y="359508"/>
          <a:ext cx="7987322" cy="63617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8A610345-FF40-D90A-5C88-A462A10E487B}"/>
              </a:ext>
            </a:extLst>
          </p:cNvPr>
          <p:cNvSpPr>
            <a:spLocks noGrp="1"/>
          </p:cNvSpPr>
          <p:nvPr>
            <p:ph type="ftr" sz="quarter" idx="30"/>
          </p:nvPr>
        </p:nvSpPr>
        <p:spPr/>
        <p:txBody>
          <a:bodyPr/>
          <a:lstStyle/>
          <a:p>
            <a:r>
              <a:rPr lang="en-US" noProof="0"/>
              <a:t>Presentation title</a:t>
            </a:r>
            <a:endParaRPr lang="en-US" noProof="0" dirty="0"/>
          </a:p>
        </p:txBody>
      </p:sp>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11</a:t>
            </a:fld>
            <a:endParaRPr lang="en-US" altLang="zh-CN" noProof="0" dirty="0"/>
          </a:p>
        </p:txBody>
      </p:sp>
    </p:spTree>
    <p:extLst>
      <p:ext uri="{BB962C8B-B14F-4D97-AF65-F5344CB8AC3E}">
        <p14:creationId xmlns:p14="http://schemas.microsoft.com/office/powerpoint/2010/main" val="32955924"/>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515263-A3DE-4193-B6AA-5C449C94519F}">
  <ds:schemaRefs>
    <ds:schemaRef ds:uri="http://schemas.microsoft.com/sharepoint/v3/contenttype/forms"/>
  </ds:schemaRefs>
</ds:datastoreItem>
</file>

<file path=customXml/itemProps3.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1718</TotalTime>
  <Words>1037</Words>
  <Application>Microsoft Office PowerPoint</Application>
  <PresentationFormat>Widescreen</PresentationFormat>
  <Paragraphs>284</Paragraphs>
  <Slides>11</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等线</vt:lpstr>
      <vt:lpstr>Abadi</vt:lpstr>
      <vt:lpstr>-apple-system</vt:lpstr>
      <vt:lpstr>Aptos</vt:lpstr>
      <vt:lpstr>Aptos Narrow</vt:lpstr>
      <vt:lpstr>Arial</vt:lpstr>
      <vt:lpstr>Calibri</vt:lpstr>
      <vt:lpstr>Posterama</vt:lpstr>
      <vt:lpstr>Posterama Text Black</vt:lpstr>
      <vt:lpstr>Posterama Text SemiBold</vt:lpstr>
      <vt:lpstr>Custom​​</vt:lpstr>
      <vt:lpstr>Capstone Project Cricket Win Prediction</vt:lpstr>
      <vt:lpstr>Agenda</vt:lpstr>
      <vt:lpstr>Data Prep</vt:lpstr>
      <vt:lpstr>Introduction – Business problem &amp; understanding </vt:lpstr>
      <vt:lpstr>Model Selection approach </vt:lpstr>
      <vt:lpstr>PowerPoint Presentation</vt:lpstr>
      <vt:lpstr>Model performance – Pre-Tuning</vt:lpstr>
      <vt:lpstr>Tuning of models via ensemble techniques like SMOTE &amp; Bagging   model Performance post SMOTE   </vt:lpstr>
      <vt:lpstr>Best Fit Model</vt:lpstr>
      <vt:lpstr>Model comparison</vt:lpstr>
      <vt:lpstr>Insights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Cricket Win Prediction</dc:title>
  <dc:creator>Rohit Akut</dc:creator>
  <cp:lastModifiedBy>Rohit Akut</cp:lastModifiedBy>
  <cp:revision>12</cp:revision>
  <dcterms:created xsi:type="dcterms:W3CDTF">2024-07-04T12:42:59Z</dcterms:created>
  <dcterms:modified xsi:type="dcterms:W3CDTF">2024-07-05T17:21:08Z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